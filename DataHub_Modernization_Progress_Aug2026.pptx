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8BC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0" cy="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Arial"/>
              </a:rPr>
              <a:t>DataHub Modernization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8BC53D"/>
                </a:solidFill>
                <a:latin typeface="Arial"/>
              </a:rPr>
              <a:t>Progress update — what shipped since the technical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118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D6E2F5"/>
                </a:solidFill>
                <a:latin typeface="Arial"/>
              </a:rPr>
              <a:t>Better Auth adopted as the auth engine, and the Phase 2 core trio — companies, users, folders — built behind the gateway.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A0C4"/>
                </a:solidFill>
                <a:latin typeface="Arial"/>
              </a:rPr>
              <a:t>branch ba/rearch   ·   9 commits since the last deck   ·  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8BC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8BC53D"/>
                </a:solidFill>
                <a:latin typeface="Arial"/>
              </a:rPr>
              <a:t>WHERE THE LAST DECK LEFT 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The foundation was in — Phase 2 was still ahead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5394960" cy="3931920"/>
          </a:xfrm>
          <a:prstGeom prst="roundRect">
            <a:avLst>
              <a:gd name="adj" fmla="val 6000"/>
            </a:avLst>
          </a:prstGeom>
          <a:solidFill>
            <a:srgbClr val="1E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493776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8BC53D"/>
                </a:solidFill>
                <a:latin typeface="Arial"/>
              </a:rPr>
              <a:t>▸  </a:t>
            </a:r>
            <a:r>
              <a:rPr sz="1500" b="1">
                <a:solidFill>
                  <a:srgbClr val="FFFFFF"/>
                </a:solidFill>
                <a:latin typeface="Arial"/>
              </a:rPr>
              <a:t>Monorepo + gateway. </a:t>
            </a:r>
            <a:r>
              <a:rPr sz="1500" b="0">
                <a:solidFill>
                  <a:srgbClr val="D6E2F5"/>
                </a:solidFill>
                <a:latin typeface="Arial"/>
              </a:rPr>
              <a:t>pnpm/Turborepo; apps/api fronts all traffic, default 100% → legacy.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8BC53D"/>
                </a:solidFill>
                <a:latin typeface="Arial"/>
              </a:rPr>
              <a:t>▸  </a:t>
            </a:r>
            <a:r>
              <a:rPr sz="1500" b="1">
                <a:solidFill>
                  <a:srgbClr val="FFFFFF"/>
                </a:solidFill>
                <a:latin typeface="Arial"/>
              </a:rPr>
              <a:t>Typed + tested. </a:t>
            </a:r>
            <a:r>
              <a:rPr sz="1500" b="0">
                <a:solidFill>
                  <a:srgbClr val="D6E2F5"/>
                </a:solidFill>
                <a:latin typeface="Arial"/>
              </a:rPr>
              <a:t>strict TS, zod contracts, Drizzle, vitest + coverage gate.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8BC53D"/>
                </a:solidFill>
                <a:latin typeface="Arial"/>
              </a:rPr>
              <a:t>▸  </a:t>
            </a:r>
            <a:r>
              <a:rPr sz="1500" b="1">
                <a:solidFill>
                  <a:srgbClr val="FFFFFF"/>
                </a:solidFill>
                <a:latin typeface="Arial"/>
              </a:rPr>
              <a:t>The module blueprint. </a:t>
            </a:r>
            <a:r>
              <a:rPr sz="1500" b="0">
                <a:solidFill>
                  <a:srgbClr val="D6E2F5"/>
                </a:solidFill>
                <a:latin typeface="Arial"/>
              </a:rPr>
              <a:t>ports/adapters; auth was the worked reference.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8BC53D"/>
                </a:solidFill>
                <a:latin typeface="Arial"/>
              </a:rPr>
              <a:t>▸  </a:t>
            </a:r>
            <a:r>
              <a:rPr sz="1500" b="1">
                <a:solidFill>
                  <a:srgbClr val="FFFFFF"/>
                </a:solidFill>
                <a:latin typeface="Arial"/>
              </a:rPr>
              <a:t>Design system + Nix dev env. </a:t>
            </a:r>
            <a:r>
              <a:rPr sz="1500" b="0">
                <a:solidFill>
                  <a:srgbClr val="D6E2F5"/>
                </a:solidFill>
                <a:latin typeface="Arial"/>
              </a:rPr>
              <a:t>packages/ui; one-command local Postgres.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83080"/>
            <a:ext cx="5212080" cy="3749039"/>
          </a:xfrm>
          <a:prstGeom prst="roundRect">
            <a:avLst>
              <a:gd name="adj" fmla="val 6000"/>
            </a:avLst>
          </a:prstGeom>
          <a:solidFill>
            <a:srgbClr val="242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6596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9AA0C4"/>
                </a:solidFill>
                <a:latin typeface="Arial"/>
              </a:rPr>
              <a:t>The roadmap slide said: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68880"/>
            <a:ext cx="4754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D6E2F5"/>
                </a:solidFill>
                <a:latin typeface="Arial"/>
              </a:rPr>
              <a:t>“Next domains (same blueprint): </a:t>
            </a:r>
            <a:r>
              <a:rPr sz="1600" b="1">
                <a:solidFill>
                  <a:srgbClr val="9BD05A"/>
                </a:solidFill>
                <a:latin typeface="Arial"/>
              </a:rPr>
              <a:t>companies → users → folders</a:t>
            </a:r>
            <a:r>
              <a:rPr sz="1600" b="0">
                <a:solidFill>
                  <a:srgbClr val="D6E2F5"/>
                </a:solidFill>
                <a:latin typeface="Arial"/>
              </a:rPr>
              <a:t> → uploads → reports → quickbooks → extraction.”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114800"/>
            <a:ext cx="47548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This update: those first three are now built — plus a change to the auth engine itself.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8BC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8BC53D"/>
                </a:solidFill>
                <a:latin typeface="Arial"/>
              </a:rPr>
              <a:t>THE HEADLINE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Two things shipped since then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029200" cy="3657600"/>
          </a:xfrm>
          <a:prstGeom prst="roundRect">
            <a:avLst>
              <a:gd name="adj" fmla="val 6000"/>
            </a:avLst>
          </a:prstGeom>
          <a:solidFill>
            <a:srgbClr val="1E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8BC53D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4480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Adopted Better Auth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429000"/>
            <a:ext cx="420624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8BC53D"/>
                </a:solidFill>
                <a:latin typeface="Arial"/>
              </a:rPr>
              <a:t>▸  </a:t>
            </a:r>
            <a:r>
              <a:rPr sz="1400" b="0">
                <a:solidFill>
                  <a:srgbClr val="D6E2F5"/>
                </a:solidFill>
                <a:latin typeface="Arial"/>
              </a:rPr>
              <a:t>Off-the-shelf auth engine, our own Postgres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8BC53D"/>
                </a:solidFill>
                <a:latin typeface="Arial"/>
              </a:rPr>
              <a:t>▸  </a:t>
            </a:r>
            <a:r>
              <a:rPr sz="1400" b="0">
                <a:solidFill>
                  <a:srgbClr val="D6E2F5"/>
                </a:solidFill>
                <a:latin typeface="Arial"/>
              </a:rPr>
              <a:t>Closes the deferred audit gaps: revocation + cookie sessions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8BC53D"/>
                </a:solidFill>
                <a:latin typeface="Arial"/>
              </a:rPr>
              <a:t>▸  </a:t>
            </a:r>
            <a:r>
              <a:rPr sz="1400" b="0">
                <a:solidFill>
                  <a:srgbClr val="D6E2F5"/>
                </a:solidFill>
                <a:latin typeface="Arial"/>
              </a:rPr>
              <a:t>Decision recorded as ADR-0007, backed by a spike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920240"/>
            <a:ext cx="5212080" cy="3657600"/>
          </a:xfrm>
          <a:prstGeom prst="roundRect">
            <a:avLst>
              <a:gd name="adj" fmla="val 6000"/>
            </a:avLst>
          </a:prstGeom>
          <a:solidFill>
            <a:srgbClr val="1E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14884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8BC53D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697480"/>
            <a:ext cx="4663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Built the Phase 2 core trio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429000"/>
            <a:ext cx="484632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8BC53D"/>
                </a:solidFill>
                <a:latin typeface="Arial"/>
              </a:rPr>
              <a:t>▸  </a:t>
            </a:r>
            <a:r>
              <a:rPr sz="1400" b="0">
                <a:solidFill>
                  <a:srgbClr val="D6E2F5"/>
                </a:solidFill>
                <a:latin typeface="Arial"/>
              </a:rPr>
              <a:t>companies → users → folders, on the module pattern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8BC53D"/>
                </a:solidFill>
                <a:latin typeface="Arial"/>
              </a:rPr>
              <a:t>▸  </a:t>
            </a:r>
            <a:r>
              <a:rPr sz="1400" b="0">
                <a:solidFill>
                  <a:srgbClr val="D6E2F5"/>
                </a:solidFill>
                <a:latin typeface="Arial"/>
              </a:rPr>
              <a:t>Each behind an env flag; instant rollback; main frozen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8BC53D"/>
                </a:solidFill>
                <a:latin typeface="Arial"/>
              </a:rPr>
              <a:t>▸  </a:t>
            </a:r>
            <a:r>
              <a:rPr sz="1400" b="0">
                <a:solidFill>
                  <a:srgbClr val="D6E2F5"/>
                </a:solidFill>
                <a:latin typeface="Arial"/>
              </a:rPr>
              <a:t>Real business rules, ported at parity, fully tested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8BC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8BC53D"/>
                </a:solidFill>
                <a:latin typeface="Arial"/>
              </a:rPr>
              <a:t>AUTH ENGINE  ·  ADR-0007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From hand-rolled to Better Auth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39"/>
            <a:ext cx="5486400" cy="3931920"/>
          </a:xfrm>
          <a:prstGeom prst="roundRect">
            <a:avLst>
              <a:gd name="adj" fmla="val 6000"/>
            </a:avLst>
          </a:prstGeom>
          <a:solidFill>
            <a:srgbClr val="1E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502920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8BC53D"/>
                </a:solidFill>
                <a:latin typeface="Arial"/>
              </a:rPr>
              <a:t>▸  </a:t>
            </a:r>
            <a:r>
              <a:rPr sz="1500" b="1">
                <a:solidFill>
                  <a:srgbClr val="FFFFFF"/>
                </a:solidFill>
                <a:latin typeface="Arial"/>
              </a:rPr>
              <a:t>The question. </a:t>
            </a:r>
            <a:r>
              <a:rPr sz="1500" b="0">
                <a:solidFill>
                  <a:srgbClr val="D6E2F5"/>
                </a:solidFill>
                <a:latin typeface="Arial"/>
              </a:rPr>
              <a:t>“Are we using an off-the-shelf, bulletproof auth library — or building it ourselves?”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8BC53D"/>
                </a:solidFill>
                <a:latin typeface="Arial"/>
              </a:rPr>
              <a:t>▸  </a:t>
            </a:r>
            <a:r>
              <a:rPr sz="1500" b="1">
                <a:solidFill>
                  <a:srgbClr val="FFFFFF"/>
                </a:solidFill>
                <a:latin typeface="Arial"/>
              </a:rPr>
              <a:t>The answer. </a:t>
            </a:r>
            <a:r>
              <a:rPr sz="1500" b="0">
                <a:solidFill>
                  <a:srgbClr val="D6E2F5"/>
                </a:solidFill>
                <a:latin typeface="Arial"/>
              </a:rPr>
              <a:t>Good primitives, but a hand-rolled session layer with real gaps.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8BC53D"/>
                </a:solidFill>
                <a:latin typeface="Arial"/>
              </a:rPr>
              <a:t>▸  </a:t>
            </a:r>
            <a:r>
              <a:rPr sz="1500" b="1">
                <a:solidFill>
                  <a:srgbClr val="FFFFFF"/>
                </a:solidFill>
                <a:latin typeface="Arial"/>
              </a:rPr>
              <a:t>The choice. </a:t>
            </a:r>
            <a:r>
              <a:rPr sz="1500" b="0">
                <a:solidFill>
                  <a:srgbClr val="D6E2F5"/>
                </a:solidFill>
                <a:latin typeface="Arial"/>
              </a:rPr>
              <a:t>Better Auth — self-hosted, identity stays in our Postgres.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8BC53D"/>
                </a:solidFill>
                <a:latin typeface="Arial"/>
              </a:rPr>
              <a:t>▸  </a:t>
            </a:r>
            <a:r>
              <a:rPr sz="1500" b="1">
                <a:solidFill>
                  <a:srgbClr val="FFFFFF"/>
                </a:solidFill>
                <a:latin typeface="Arial"/>
              </a:rPr>
              <a:t>The method. </a:t>
            </a:r>
            <a:r>
              <a:rPr sz="1500" b="0">
                <a:solidFill>
                  <a:srgbClr val="D6E2F5"/>
                </a:solidFill>
                <a:latin typeface="Arial"/>
              </a:rPr>
              <a:t>A green spike proved it before we committed; then decided.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212080" cy="3840480"/>
          </a:xfrm>
          <a:prstGeom prst="roundRect">
            <a:avLst>
              <a:gd name="adj" fmla="val 6000"/>
            </a:avLst>
          </a:prstGeom>
          <a:solidFill>
            <a:srgbClr val="242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8BC53D"/>
                </a:solidFill>
                <a:latin typeface="Arial"/>
              </a:rPr>
              <a:t>What it closes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468880"/>
            <a:ext cx="475488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8BC53D"/>
                </a:solidFill>
                <a:latin typeface="Arial"/>
              </a:rPr>
              <a:t>▸  </a:t>
            </a:r>
            <a:r>
              <a:rPr sz="1400" b="1">
                <a:solidFill>
                  <a:srgbClr val="FFFFFF"/>
                </a:solidFill>
                <a:latin typeface="Arial"/>
              </a:rPr>
              <a:t>Revocation (M1). </a:t>
            </a:r>
            <a:r>
              <a:rPr sz="1400" b="0">
                <a:solidFill>
                  <a:srgbClr val="D6E2F5"/>
                </a:solidFill>
                <a:latin typeface="Arial"/>
              </a:rPr>
              <a:t>DB-backed sessions — log out / kill a stolen session.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8BC53D"/>
                </a:solidFill>
                <a:latin typeface="Arial"/>
              </a:rPr>
              <a:t>▸  </a:t>
            </a:r>
            <a:r>
              <a:rPr sz="1400" b="1">
                <a:solidFill>
                  <a:srgbClr val="FFFFFF"/>
                </a:solidFill>
                <a:latin typeface="Arial"/>
              </a:rPr>
              <a:t>No localStorage JWT (M2/M3). </a:t>
            </a:r>
            <a:r>
              <a:rPr sz="1400" b="0">
                <a:solidFill>
                  <a:srgbClr val="D6E2F5"/>
                </a:solidFill>
                <a:latin typeface="Arial"/>
              </a:rPr>
              <a:t>httpOnly cookie sessions.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8BC53D"/>
                </a:solidFill>
                <a:latin typeface="Arial"/>
              </a:rPr>
              <a:t>▸  </a:t>
            </a:r>
            <a:r>
              <a:rPr sz="1400" b="1">
                <a:solidFill>
                  <a:srgbClr val="FFFFFF"/>
                </a:solidFill>
                <a:latin typeface="Arial"/>
              </a:rPr>
              <a:t>No forced resets. </a:t>
            </a:r>
            <a:r>
              <a:rPr sz="1400" b="0">
                <a:solidFill>
                  <a:srgbClr val="D6E2F5"/>
                </a:solidFill>
                <a:latin typeface="Arial"/>
              </a:rPr>
              <a:t>existing bcrypt passwords log in unchanged.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8BC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8BC53D"/>
                </a:solidFill>
                <a:latin typeface="Arial"/>
              </a:rPr>
              <a:t>PHASE 2 — CORE TRIO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Three domains, one pattern, behind the gateway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429000" cy="3703320"/>
          </a:xfrm>
          <a:prstGeom prst="roundRect">
            <a:avLst>
              <a:gd name="adj" fmla="val 6000"/>
            </a:avLst>
          </a:prstGeom>
          <a:solidFill>
            <a:srgbClr val="1E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1">
                <a:solidFill>
                  <a:srgbClr val="9BD05A"/>
                </a:solidFill>
                <a:latin typeface="Consolas"/>
              </a:rPr>
              <a:t>companies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9AA0C4"/>
                </a:solidFill>
                <a:latin typeface="Arial"/>
              </a:rPr>
              <a:t>The backbone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063240"/>
            <a:ext cx="30175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8BC53D"/>
                </a:solidFill>
                <a:latin typeface="Arial"/>
              </a:rPr>
              <a:t>▸  </a:t>
            </a:r>
            <a:r>
              <a:rPr sz="1300" b="0">
                <a:solidFill>
                  <a:srgbClr val="D6E2F5"/>
                </a:solidFill>
                <a:latin typeface="Arial"/>
              </a:rPr>
              <a:t>Tenant-scoped list + stats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8BC53D"/>
                </a:solidFill>
                <a:latin typeface="Arial"/>
              </a:rPr>
              <a:t>▸  </a:t>
            </a:r>
            <a:r>
              <a:rPr sz="1300" b="0">
                <a:solidFill>
                  <a:srgbClr val="D6E2F5"/>
                </a:solidFill>
                <a:latin typeface="Arial"/>
              </a:rPr>
              <a:t>Safe-field updates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8BC53D"/>
                </a:solidFill>
                <a:latin typeface="Arial"/>
              </a:rPr>
              <a:t>▸  </a:t>
            </a:r>
            <a:r>
              <a:rPr sz="1300" b="0">
                <a:solidFill>
                  <a:srgbClr val="D6E2F5"/>
                </a:solidFill>
                <a:latin typeface="Arial"/>
              </a:rPr>
              <a:t>4-step cascade delete in one transaction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74519"/>
            <a:ext cx="3429000" cy="3703320"/>
          </a:xfrm>
          <a:prstGeom prst="roundRect">
            <a:avLst>
              <a:gd name="adj" fmla="val 6000"/>
            </a:avLst>
          </a:prstGeom>
          <a:solidFill>
            <a:srgbClr val="1E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10312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1">
                <a:solidFill>
                  <a:srgbClr val="9BD05A"/>
                </a:solidFill>
                <a:latin typeface="Consolas"/>
              </a:rPr>
              <a:t>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60604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9AA0C4"/>
                </a:solidFill>
                <a:latin typeface="Arial"/>
              </a:rPr>
              <a:t>The richest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3063240"/>
            <a:ext cx="30175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8BC53D"/>
                </a:solidFill>
                <a:latin typeface="Arial"/>
              </a:rPr>
              <a:t>▸  </a:t>
            </a:r>
            <a:r>
              <a:rPr sz="1300" b="0">
                <a:solidFill>
                  <a:srgbClr val="D6E2F5"/>
                </a:solidFill>
                <a:latin typeface="Arial"/>
              </a:rPr>
              <a:t>Effective-role (pure, table-tested)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8BC53D"/>
                </a:solidFill>
                <a:latin typeface="Arial"/>
              </a:rPr>
              <a:t>▸  </a:t>
            </a:r>
            <a:r>
              <a:rPr sz="1300" b="0">
                <a:solidFill>
                  <a:srgbClr val="D6E2F5"/>
                </a:solidFill>
                <a:latin typeface="Arial"/>
              </a:rPr>
              <a:t>Role/sub-role gating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8BC53D"/>
                </a:solidFill>
                <a:latin typeface="Arial"/>
              </a:rPr>
              <a:t>▸  </a:t>
            </a:r>
            <a:r>
              <a:rPr sz="1300" b="0">
                <a:solidFill>
                  <a:srgbClr val="D6E2F5"/>
                </a:solidFill>
                <a:latin typeface="Arial"/>
              </a:rPr>
              <a:t>Delete-with-reassignment invariant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874519"/>
            <a:ext cx="3429000" cy="3703320"/>
          </a:xfrm>
          <a:prstGeom prst="roundRect">
            <a:avLst>
              <a:gd name="adj" fmla="val 6000"/>
            </a:avLst>
          </a:prstGeom>
          <a:solidFill>
            <a:srgbClr val="1E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210312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1">
                <a:solidFill>
                  <a:srgbClr val="9BD05A"/>
                </a:solidFill>
                <a:latin typeface="Consolas"/>
              </a:rPr>
              <a:t>folders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60604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9AA0C4"/>
                </a:solidFill>
                <a:latin typeface="Arial"/>
              </a:rPr>
              <a:t>The workspace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1" y="3063240"/>
            <a:ext cx="30175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8BC53D"/>
                </a:solidFill>
                <a:latin typeface="Arial"/>
              </a:rPr>
              <a:t>▸  </a:t>
            </a:r>
            <a:r>
              <a:rPr sz="1300" b="0">
                <a:solidFill>
                  <a:srgbClr val="D6E2F5"/>
                </a:solidFill>
                <a:latin typeface="Arial"/>
              </a:rPr>
              <a:t>Tree + soft-delete archive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8BC53D"/>
                </a:solidFill>
                <a:latin typeface="Arial"/>
              </a:rPr>
              <a:t>▸  </a:t>
            </a:r>
            <a:r>
              <a:rPr sz="1300" b="0">
                <a:solidFill>
                  <a:srgbClr val="D6E2F5"/>
                </a:solidFill>
                <a:latin typeface="Arial"/>
              </a:rPr>
              <a:t>Idempotent default provisioning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8BC53D"/>
                </a:solidFill>
                <a:latin typeface="Arial"/>
              </a:rPr>
              <a:t>▸  </a:t>
            </a:r>
            <a:r>
              <a:rPr sz="1300" b="0">
                <a:solidFill>
                  <a:srgbClr val="D6E2F5"/>
                </a:solidFill>
                <a:latin typeface="Arial"/>
              </a:rPr>
              <a:t>File-link-protected delete (409)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80644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A0C4"/>
                </a:solidFill>
                <a:latin typeface="Arial"/>
              </a:rPr>
              <a:t>Each mounts at its route behind </a:t>
            </a:r>
            <a:r>
              <a:rPr sz="1300" b="1">
                <a:solidFill>
                  <a:srgbClr val="C7D6F2"/>
                </a:solidFill>
                <a:latin typeface="Consolas"/>
              </a:rPr>
              <a:t>&lt;DOMAIN&gt;_MODULE_ENABLED</a:t>
            </a:r>
            <a:r>
              <a:rPr sz="1300" b="0">
                <a:solidFill>
                  <a:srgbClr val="9AA0C4"/>
                </a:solidFill>
                <a:latin typeface="Arial"/>
              </a:rPr>
              <a:t>  ·  off → falls through to legacy  ·  folders now provisions companies’ default folders.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8BC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8BC53D"/>
                </a:solidFill>
                <a:latin typeface="Arial"/>
              </a:rPr>
              <a:t>BY 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Shipped, tested, and reversible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514600" cy="2103120"/>
          </a:xfrm>
          <a:prstGeom prst="roundRect">
            <a:avLst>
              <a:gd name="adj" fmla="val 6000"/>
            </a:avLst>
          </a:prstGeom>
          <a:solidFill>
            <a:srgbClr val="1E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2514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8BC53D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00400"/>
            <a:ext cx="2240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D6E2F5"/>
                </a:solidFill>
                <a:latin typeface="Arial"/>
              </a:rPr>
              <a:t>domains built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D6E2F5"/>
                </a:solidFill>
                <a:latin typeface="Arial"/>
              </a:rPr>
              <a:t>(companies · users · folders)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011680"/>
            <a:ext cx="2514600" cy="2103120"/>
          </a:xfrm>
          <a:prstGeom prst="roundRect">
            <a:avLst>
              <a:gd name="adj" fmla="val 6000"/>
            </a:avLst>
          </a:prstGeom>
          <a:solidFill>
            <a:srgbClr val="1E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2286000"/>
            <a:ext cx="2514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8BC53D"/>
                </a:solidFill>
                <a:latin typeface="Arial"/>
              </a:rPr>
              <a:t>~2,700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200400"/>
            <a:ext cx="2240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D6E2F5"/>
                </a:solidFill>
                <a:latin typeface="Arial"/>
              </a:rPr>
              <a:t>lines of new typed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D6E2F5"/>
                </a:solidFill>
                <a:latin typeface="Arial"/>
              </a:rPr>
              <a:t>module code (excl. tests)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011680"/>
            <a:ext cx="2514600" cy="2103120"/>
          </a:xfrm>
          <a:prstGeom prst="roundRect">
            <a:avLst>
              <a:gd name="adj" fmla="val 6000"/>
            </a:avLst>
          </a:prstGeom>
          <a:solidFill>
            <a:srgbClr val="1E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286000"/>
            <a:ext cx="2514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8BC53D"/>
                </a:solidFill>
                <a:latin typeface="Arial"/>
              </a:rPr>
              <a:t>115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3200400"/>
            <a:ext cx="2240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D6E2F5"/>
                </a:solidFill>
                <a:latin typeface="Arial"/>
              </a:rPr>
              <a:t>apps/api tests green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D6E2F5"/>
                </a:solidFill>
                <a:latin typeface="Arial"/>
              </a:rPr>
              <a:t>(+ contracts 23 · db 8)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2011680"/>
            <a:ext cx="2514600" cy="2103120"/>
          </a:xfrm>
          <a:prstGeom prst="roundRect">
            <a:avLst>
              <a:gd name="adj" fmla="val 6000"/>
            </a:avLst>
          </a:prstGeom>
          <a:solidFill>
            <a:srgbClr val="1E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2286000"/>
            <a:ext cx="2514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8BC53D"/>
                </a:solidFill>
                <a:latin typeface="Arial"/>
              </a:rPr>
              <a:t>~91%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3200400"/>
            <a:ext cx="2240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D6E2F5"/>
                </a:solidFill>
                <a:latin typeface="Arial"/>
              </a:rPr>
              <a:t>statement coverage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D6E2F5"/>
                </a:solidFill>
                <a:latin typeface="Arial"/>
              </a:rPr>
              <a:t>on new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2628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D6E2F5"/>
                </a:solidFill>
                <a:latin typeface="Arial"/>
              </a:rPr>
              <a:t>Every domain is behind an env flag with instant rollback; </a:t>
            </a:r>
            <a:r>
              <a:rPr sz="1500" b="1">
                <a:solidFill>
                  <a:srgbClr val="FFFFFF"/>
                </a:solidFill>
                <a:latin typeface="Arial"/>
              </a:rPr>
              <a:t>main is frozen</a:t>
            </a:r>
            <a:r>
              <a:rPr sz="1500" b="0">
                <a:solidFill>
                  <a:srgbClr val="D6E2F5"/>
                </a:solidFill>
                <a:latin typeface="Arial"/>
              </a:rPr>
              <a:t>. Integration tests run against real Postgres (embedded PGlite) — the transactional cascades and idempotent provisioning are proven, not assumed.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8BC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8BC53D"/>
                </a:solidFill>
                <a:latin typeface="Arial"/>
              </a:rPr>
              <a:t>HOW WE BUILT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Same blueprint, decisions on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5486400" cy="3840480"/>
          </a:xfrm>
          <a:prstGeom prst="roundRect">
            <a:avLst>
              <a:gd name="adj" fmla="val 6000"/>
            </a:avLst>
          </a:prstGeom>
          <a:solidFill>
            <a:srgbClr val="1E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8BC53D"/>
                </a:solidFill>
                <a:latin typeface="Arial"/>
              </a:rPr>
              <a:t>▸  </a:t>
            </a:r>
            <a:r>
              <a:rPr sz="1500" b="1">
                <a:solidFill>
                  <a:srgbClr val="FFFFFF"/>
                </a:solidFill>
                <a:latin typeface="Arial"/>
              </a:rPr>
              <a:t>Copy the pattern. </a:t>
            </a:r>
            <a:r>
              <a:rPr sz="1500" b="0">
                <a:solidFill>
                  <a:srgbClr val="D6E2F5"/>
                </a:solidFill>
                <a:latin typeface="Arial"/>
              </a:rPr>
              <a:t>contract → ports → service → repo (Drizzle + in-memory) → router.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8BC53D"/>
                </a:solidFill>
                <a:latin typeface="Arial"/>
              </a:rPr>
              <a:t>▸  </a:t>
            </a:r>
            <a:r>
              <a:rPr sz="1500" b="1">
                <a:solidFill>
                  <a:srgbClr val="FFFFFF"/>
                </a:solidFill>
                <a:latin typeface="Arial"/>
              </a:rPr>
              <a:t>Shared, not repeated. </a:t>
            </a:r>
            <a:r>
              <a:rPr sz="1500" b="0">
                <a:solidFill>
                  <a:srgbClr val="D6E2F5"/>
                </a:solidFill>
                <a:latin typeface="Arial"/>
              </a:rPr>
              <a:t>one session guard + canAccessCompany for every domain.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8BC53D"/>
                </a:solidFill>
                <a:latin typeface="Arial"/>
              </a:rPr>
              <a:t>▸  </a:t>
            </a:r>
            <a:r>
              <a:rPr sz="1500" b="1">
                <a:solidFill>
                  <a:srgbClr val="FFFFFF"/>
                </a:solidFill>
                <a:latin typeface="Arial"/>
              </a:rPr>
              <a:t>Cross-domain via ports. </a:t>
            </a:r>
            <a:r>
              <a:rPr sz="1500" b="0">
                <a:solidFill>
                  <a:srgbClr val="D6E2F5"/>
                </a:solidFill>
                <a:latin typeface="Arial"/>
              </a:rPr>
              <a:t>no reaching into another domain’s tables.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737360"/>
            <a:ext cx="5577840" cy="3840480"/>
          </a:xfrm>
          <a:prstGeom prst="roundRect">
            <a:avLst>
              <a:gd name="adj" fmla="val 6000"/>
            </a:avLst>
          </a:prstGeom>
          <a:solidFill>
            <a:srgbClr val="1E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920240"/>
            <a:ext cx="512064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8BC53D"/>
                </a:solidFill>
                <a:latin typeface="Arial"/>
              </a:rPr>
              <a:t>▸  </a:t>
            </a:r>
            <a:r>
              <a:rPr sz="1500" b="1">
                <a:solidFill>
                  <a:srgbClr val="FFFFFF"/>
                </a:solidFill>
                <a:latin typeface="Arial"/>
              </a:rPr>
              <a:t>Spec first. </a:t>
            </a:r>
            <a:r>
              <a:rPr sz="1500" b="0">
                <a:solidFill>
                  <a:srgbClr val="D6E2F5"/>
                </a:solidFill>
                <a:latin typeface="Arial"/>
              </a:rPr>
              <a:t>each domain is an OpenSpec change; strict-validated.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8BC53D"/>
                </a:solidFill>
                <a:latin typeface="Arial"/>
              </a:rPr>
              <a:t>▸  </a:t>
            </a:r>
            <a:r>
              <a:rPr sz="1500" b="1">
                <a:solidFill>
                  <a:srgbClr val="FFFFFF"/>
                </a:solidFill>
                <a:latin typeface="Arial"/>
              </a:rPr>
              <a:t>Decisions are ADRs. </a:t>
            </a:r>
            <a:r>
              <a:rPr sz="1500" b="0">
                <a:solidFill>
                  <a:srgbClr val="D6E2F5"/>
                </a:solidFill>
                <a:latin typeface="Arial"/>
              </a:rPr>
              <a:t>the auth engine choice is written down and reversible.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8BC53D"/>
                </a:solidFill>
                <a:latin typeface="Arial"/>
              </a:rPr>
              <a:t>▸  </a:t>
            </a:r>
            <a:r>
              <a:rPr sz="1500" b="1">
                <a:solidFill>
                  <a:srgbClr val="FFFFFF"/>
                </a:solidFill>
                <a:latin typeface="Arial"/>
              </a:rPr>
              <a:t>Prove it. </a:t>
            </a:r>
            <a:r>
              <a:rPr sz="1500" b="0">
                <a:solidFill>
                  <a:srgbClr val="D6E2F5"/>
                </a:solidFill>
                <a:latin typeface="Arial"/>
              </a:rPr>
              <a:t>a spike de-risked Better Auth before a line of prod code.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8BC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8BC53D"/>
                </a:solidFill>
                <a:latin typeface="Arial"/>
              </a:rPr>
              <a:t>WHERE WE GO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Turn it on, then widen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5029200" cy="3657600"/>
          </a:xfrm>
          <a:prstGeom prst="roundRect">
            <a:avLst>
              <a:gd name="adj" fmla="val 6000"/>
            </a:avLst>
          </a:prstGeom>
          <a:solidFill>
            <a:srgbClr val="242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8BC53D"/>
                </a:solidFill>
                <a:latin typeface="Arial"/>
              </a:rPr>
              <a:t>The near-term 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45720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8BC53D"/>
                </a:solidFill>
                <a:latin typeface="Arial"/>
              </a:rPr>
              <a:t>▸  </a:t>
            </a:r>
            <a:r>
              <a:rPr sz="1500" b="0">
                <a:solidFill>
                  <a:srgbClr val="D6E2F5"/>
                </a:solidFill>
                <a:latin typeface="Arial"/>
              </a:rPr>
              <a:t>Deploy to a real environment and flip the flags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8BC53D"/>
                </a:solidFill>
                <a:latin typeface="Arial"/>
              </a:rPr>
              <a:t>▸  </a:t>
            </a:r>
            <a:r>
              <a:rPr sz="1500" b="0">
                <a:solidFill>
                  <a:srgbClr val="D6E2F5"/>
                </a:solidFill>
                <a:latin typeface="Arial"/>
              </a:rPr>
              <a:t>That’s when the auth security fixes protect users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8BC53D"/>
                </a:solidFill>
                <a:latin typeface="Arial"/>
              </a:rPr>
              <a:t>▸  </a:t>
            </a:r>
            <a:r>
              <a:rPr sz="1500" b="0">
                <a:solidFill>
                  <a:srgbClr val="D6E2F5"/>
                </a:solidFill>
                <a:latin typeface="Arial"/>
              </a:rPr>
              <a:t>Then retire the legacy handlers after a green soak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874519"/>
            <a:ext cx="5212080" cy="3657600"/>
          </a:xfrm>
          <a:prstGeom prst="roundRect">
            <a:avLst>
              <a:gd name="adj" fmla="val 6000"/>
            </a:avLst>
          </a:prstGeom>
          <a:solidFill>
            <a:srgbClr val="1E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8BC53D"/>
                </a:solidFill>
                <a:latin typeface="Arial"/>
              </a:rPr>
              <a:t>The remaining cutover order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06040"/>
            <a:ext cx="48463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8BC53D"/>
                </a:solidFill>
                <a:latin typeface="Arial"/>
              </a:rPr>
              <a:t>▸  </a:t>
            </a:r>
            <a:r>
              <a:rPr sz="1500" b="1">
                <a:solidFill>
                  <a:srgbClr val="FFFFFF"/>
                </a:solidFill>
                <a:latin typeface="Arial"/>
              </a:rPr>
              <a:t>uploads / requests / messages</a:t>
            </a:r>
            <a:r>
              <a:rPr sz="1500" b="0">
                <a:solidFill>
                  <a:srgbClr val="D6E2F5"/>
                </a:solidFill>
                <a:latin typeface="Arial"/>
              </a:rPr>
              <a:t> — shares the folder routes we left on legacy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8BC53D"/>
                </a:solidFill>
                <a:latin typeface="Arial"/>
              </a:rPr>
              <a:t>▸  </a:t>
            </a:r>
            <a:r>
              <a:rPr sz="1500" b="1">
                <a:solidFill>
                  <a:srgbClr val="FFFFFF"/>
                </a:solidFill>
                <a:latin typeface="Arial"/>
              </a:rPr>
              <a:t>reports</a:t>
            </a:r>
            <a:r>
              <a:rPr sz="1500" b="0">
                <a:solidFill>
                  <a:srgbClr val="D6E2F5"/>
                </a:solidFill>
                <a:latin typeface="Arial"/>
              </a:rPr>
              <a:t> — decompose the 9,000-line GL service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8BC53D"/>
                </a:solidFill>
                <a:latin typeface="Arial"/>
              </a:rPr>
              <a:t>▸  </a:t>
            </a:r>
            <a:r>
              <a:rPr sz="1500" b="1">
                <a:solidFill>
                  <a:srgbClr val="FFFFFF"/>
                </a:solidFill>
                <a:latin typeface="Arial"/>
              </a:rPr>
              <a:t>quickbooks, then extraction</a:t>
            </a:r>
            <a:r>
              <a:rPr sz="1500" b="0">
                <a:solidFill>
                  <a:srgbClr val="D6E2F5"/>
                </a:solidFill>
                <a:latin typeface="Arial"/>
              </a:rPr>
              <a:t> — the AI pipeline (microservice #1)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8BC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The core trio is in.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1">
                <a:solidFill>
                  <a:srgbClr val="8BC53D"/>
                </a:solidFill>
                <a:latin typeface="Arial"/>
              </a:rPr>
              <a:t>Next: turn it on, then keep widening — one domain at a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949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A0C4"/>
                </a:solidFill>
                <a:latin typeface="Arial"/>
              </a:rPr>
              <a:t>Details:  docs/REARCH_LOG.md  ·  docs/adr/0007  ·  openspec/changes/{companies,users,folders}-domain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