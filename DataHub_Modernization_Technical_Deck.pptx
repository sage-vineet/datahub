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75C4144-3663-48D0-9F91-7BE3ADFDA7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2B7347-86D1-4FD6-A204-8382B89A43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243669-843B-4434-8592-8AACADA70D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E55DD2-2EF1-4435-91C6-6B8450BC944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9D5FCF-A953-4876-882C-05F42D3C5AB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6E1A49-3EA9-4580-89B7-F5A0358606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79B5E8-5B39-4B83-A73A-A92F9E36EDD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8D2222-9BD9-45A8-AE35-D5718A83CC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5122D9-DE98-45C0-AF75-927C3B4110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CB8EE9-F5B4-4BF8-8AEB-3CF5774963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2779CC-9F2A-4302-A6F0-417EC07CE1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516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2743200"/>
            <a:ext cx="12191400" cy="63000"/>
          </a:xfrm>
          <a:prstGeom prst="rect">
            <a:avLst/>
          </a:prstGeom>
          <a:solidFill>
            <a:srgbClr val="8bc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8360" bIns="183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822960" y="1417320"/>
            <a:ext cx="10515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DataHub Modernization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8bc53d"/>
                </a:solidFill>
                <a:effectLst/>
                <a:uFillTx/>
                <a:latin typeface="Arial"/>
              </a:rPr>
              <a:t>Engineering deep dive &amp; team playbook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822960" y="2971800"/>
            <a:ext cx="10606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u="none" strike="noStrike">
                <a:solidFill>
                  <a:srgbClr val="c7d2e6"/>
                </a:solidFill>
                <a:effectLst/>
                <a:uFillTx/>
                <a:latin typeface="Arial"/>
              </a:rPr>
              <a:t>How the new architecture works, the patterns to follow, and how we level up together.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822960" y="566928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For the DataHub engineering team  ·  branch ba/rearch  ·  August 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0516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Rectangle 2"/>
          <p:cNvSpPr/>
          <p:nvPr/>
        </p:nvSpPr>
        <p:spPr>
          <a:xfrm>
            <a:off x="0" y="960120"/>
            <a:ext cx="12191400" cy="50400"/>
          </a:xfrm>
          <a:prstGeom prst="rect">
            <a:avLst/>
          </a:prstGeom>
          <a:solidFill>
            <a:srgbClr val="8bc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502920" y="10980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8bc53d"/>
                </a:solidFill>
                <a:effectLst/>
                <a:uFillTx/>
                <a:latin typeface="Arial"/>
              </a:rPr>
              <a:t>STARTING FROM STRENGTH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502920" y="32904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What the team already did well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5"/>
          <p:cNvSpPr/>
          <p:nvPr/>
        </p:nvSpPr>
        <p:spPr>
          <a:xfrm>
            <a:off x="548640" y="1188720"/>
            <a:ext cx="11155320" cy="53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1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Multi-tenant isolation is solid. </a:t>
            </a:r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canAccessCompany() is applied consistently across companies, folders, uploads and messages.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1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Auth crypto was sensible. </a:t>
            </a:r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bcrypt hashing + a real OTP flow (crypto.randomInt, hashed codes, attempt/resend limits).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1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The Python bridge is safe. </a:t>
            </a:r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spawn(..., { shell: false }) with fixed args — no command injection.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1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Error middleware doesn't leak. </a:t>
            </a:r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Responses return { error: message } only — no stack traces to clients.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1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Delivery discipline improved over time. </a:t>
            </a:r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Commit messages moved to feat:/fix:/chore: by June.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6"/>
          <p:cNvSpPr/>
          <p:nvPr/>
        </p:nvSpPr>
        <p:spPr>
          <a:xfrm>
            <a:off x="548640" y="63550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0" u="none" strike="noStrike">
                <a:solidFill>
                  <a:srgbClr val="6d6e71"/>
                </a:solidFill>
                <a:effectLst/>
                <a:uFillTx/>
                <a:latin typeface="Arial"/>
              </a:rPr>
              <a:t>These are kept and built on — the module pattern formalizes the good instincts already in the codebase.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0516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ectangle 2"/>
          <p:cNvSpPr/>
          <p:nvPr/>
        </p:nvSpPr>
        <p:spPr>
          <a:xfrm>
            <a:off x="0" y="960120"/>
            <a:ext cx="12191400" cy="50400"/>
          </a:xfrm>
          <a:prstGeom prst="rect">
            <a:avLst/>
          </a:prstGeom>
          <a:solidFill>
            <a:srgbClr val="8bc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502920" y="10980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8bc53d"/>
                </a:solidFill>
                <a:effectLst/>
                <a:uFillTx/>
                <a:latin typeface="Arial"/>
              </a:rPr>
              <a:t>THE WORK SO FAR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502920" y="32904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ba/rearch program map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6" name="Table 5"/>
          <p:cNvGraphicFramePr/>
          <p:nvPr/>
        </p:nvGraphicFramePr>
        <p:xfrm>
          <a:off x="548640" y="1234440"/>
          <a:ext cx="11109600" cy="3968280"/>
        </p:xfrm>
        <a:graphic>
          <a:graphicData uri="http://schemas.openxmlformats.org/drawingml/2006/table">
            <a:tbl>
              <a:tblPr/>
              <a:tblGrid>
                <a:gridCol w="2242080"/>
                <a:gridCol w="6421320"/>
                <a:gridCol w="2446200"/>
              </a:tblGrid>
              <a:tr h="56664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Phase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5164d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What landed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5164d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Key commits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5164d"/>
                    </a:solidFill>
                  </a:tcPr>
                </a:tc>
              </a:tr>
              <a:tr h="56664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Security + hygiene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C1/C2/H3 fixes, password reset, removed committed secrets/junk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17c7e08, 00b8fa8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Phase 0 — harness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pnpm+Turborepo monorepo, apps/api gateway, CI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8a1fd22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  <a:tr h="56664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Phase 1 — auth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packages/{contracts,db}, apps/api/modules/auth; live soak 9/9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0ae6fe2, becb23e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Local dev env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Nix flake + devenv, local Postgres; drizzle fix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9b54766, 34d3b6a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  <a:tr h="56664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Design system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packages/ui — 13 Radix/Tailwind components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b41183e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Docs throughout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REARCH_LOG, 6 ADRs, MODERNIZATION_PLAN, OpenSpec changes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66e7860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77" name="TextBox 6"/>
          <p:cNvSpPr/>
          <p:nvPr/>
        </p:nvSpPr>
        <p:spPr>
          <a:xfrm>
            <a:off x="548640" y="63550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0" u="none" strike="noStrike">
                <a:solidFill>
                  <a:srgbClr val="6d6e71"/>
                </a:solidFill>
                <a:effectLst/>
                <a:uFillTx/>
                <a:latin typeface="Arial"/>
              </a:rPr>
              <a:t>16 commits total on ba/rearch; each maps to an OpenSpec change under openspec/changes/archive/.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0516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Rectangle 2"/>
          <p:cNvSpPr/>
          <p:nvPr/>
        </p:nvSpPr>
        <p:spPr>
          <a:xfrm>
            <a:off x="0" y="960120"/>
            <a:ext cx="12191400" cy="50400"/>
          </a:xfrm>
          <a:prstGeom prst="rect">
            <a:avLst/>
          </a:prstGeom>
          <a:solidFill>
            <a:srgbClr val="8bc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502920" y="10980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8bc53d"/>
                </a:solidFill>
                <a:effectLst/>
                <a:uFillTx/>
                <a:latin typeface="Arial"/>
              </a:rPr>
              <a:t>PHASE 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4"/>
          <p:cNvSpPr/>
          <p:nvPr/>
        </p:nvSpPr>
        <p:spPr>
          <a:xfrm>
            <a:off x="502920" y="32904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Monorepo layout &amp; tooling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5"/>
          <p:cNvSpPr/>
          <p:nvPr/>
        </p:nvSpPr>
        <p:spPr>
          <a:xfrm>
            <a:off x="548640" y="1188720"/>
            <a:ext cx="5851800" cy="2779560"/>
          </a:xfrm>
          <a:prstGeom prst="rect">
            <a:avLst/>
          </a:prstGeom>
          <a:solidFill>
            <a:srgbClr val="0e1c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6"/>
          <p:cNvSpPr/>
          <p:nvPr/>
        </p:nvSpPr>
        <p:spPr>
          <a:xfrm>
            <a:off x="658440" y="1280160"/>
            <a:ext cx="5632200" cy="259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1" u="none" strike="noStrike">
                <a:solidFill>
                  <a:srgbClr val="9bd05a"/>
                </a:solidFill>
                <a:effectLst/>
                <a:uFillTx/>
                <a:latin typeface="Consolas"/>
              </a:rPr>
              <a:t>datahub/  (pnpm workspaces + Turborepo)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apps/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  web/    React SPA (relocated, git mv)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  api/    TS gateway + modules/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packages/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  config/     tsconfig, eslint, prettier, vitest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  contracts/  zod schemas (shared FE/BE)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  db/         Drizzle client + schema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  ui/         design system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backend/  legacy Express (untouched)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7"/>
          <p:cNvSpPr/>
          <p:nvPr/>
        </p:nvSpPr>
        <p:spPr>
          <a:xfrm>
            <a:off x="6583680" y="1371600"/>
            <a:ext cx="521172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pnpm@9.15.9 pinned via packageManager; Turborepo caches build/typecheck/lint/test.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Workspace packages are consumed as source .ts (no build step) via the exports map.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CI: .github/workflows/ci.yml runs typecheck + lint + test + audit on every PR to ba/rearch.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8"/>
          <p:cNvSpPr/>
          <p:nvPr/>
        </p:nvSpPr>
        <p:spPr>
          <a:xfrm>
            <a:off x="6583680" y="4206240"/>
            <a:ext cx="5211720" cy="987120"/>
          </a:xfrm>
          <a:prstGeom prst="rect">
            <a:avLst/>
          </a:prstGeom>
          <a:solidFill>
            <a:srgbClr val="0e1c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9"/>
          <p:cNvSpPr/>
          <p:nvPr/>
        </p:nvSpPr>
        <p:spPr>
          <a:xfrm>
            <a:off x="6693480" y="4297680"/>
            <a:ext cx="499212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1" u="none" strike="noStrike">
                <a:solidFill>
                  <a:srgbClr val="9bd05a"/>
                </a:solidFill>
                <a:effectLst/>
                <a:uFillTx/>
                <a:latin typeface="Consolas"/>
              </a:rPr>
              <a:t>everyday commands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pnpm i        pnpm test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pnpm build    pnpm typecheck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0516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2"/>
          <p:cNvSpPr/>
          <p:nvPr/>
        </p:nvSpPr>
        <p:spPr>
          <a:xfrm>
            <a:off x="0" y="960120"/>
            <a:ext cx="12191400" cy="50400"/>
          </a:xfrm>
          <a:prstGeom prst="rect">
            <a:avLst/>
          </a:prstGeom>
          <a:solidFill>
            <a:srgbClr val="8bc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502920" y="10980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8bc53d"/>
                </a:solidFill>
                <a:effectLst/>
                <a:uFillTx/>
                <a:latin typeface="Arial"/>
              </a:rPr>
              <a:t>THE CUTOVER SEAM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502920" y="32904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Gateway &amp; per-domain migration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5"/>
          <p:cNvSpPr/>
          <p:nvPr/>
        </p:nvSpPr>
        <p:spPr>
          <a:xfrm>
            <a:off x="548640" y="1188720"/>
            <a:ext cx="11155320" cy="53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apps/api fronts all backend traffic. An env routing table (routing.ts) sends each path to a target; default = 100% to legacy.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New domains mount in-process BEFORE the proxy (gateway.ts, MountedModule), gated by a flag — flip on to adopt, off to roll back.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Tokens keep the same secret + {sub} claim as legacy, so a flip/rollback is zero-downtime.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6"/>
          <p:cNvSpPr/>
          <p:nvPr/>
        </p:nvSpPr>
        <p:spPr>
          <a:xfrm>
            <a:off x="548640" y="3063240"/>
            <a:ext cx="11109600" cy="1499400"/>
          </a:xfrm>
          <a:prstGeom prst="rect">
            <a:avLst/>
          </a:prstGeom>
          <a:solidFill>
            <a:srgbClr val="0e1c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7"/>
          <p:cNvSpPr/>
          <p:nvPr/>
        </p:nvSpPr>
        <p:spPr>
          <a:xfrm>
            <a:off x="658440" y="3154680"/>
            <a:ext cx="10890000" cy="131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// apps/api/src/server.ts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if (process.env.AUTH_MODULE_ENABLED === 'true') {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  const repo = new DrizzleAuthRepository(createDb(process.env.DATABASE_URL));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  modules.push({ path: '/api/auth', router: createAuthModule({ repo }).router });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}   // else /api/auth falls through to the legacy proxy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8"/>
          <p:cNvSpPr/>
          <p:nvPr/>
        </p:nvSpPr>
        <p:spPr>
          <a:xfrm>
            <a:off x="548640" y="63550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0" u="none" strike="noStrike">
                <a:solidFill>
                  <a:srgbClr val="6d6e71"/>
                </a:solidFill>
                <a:effectLst/>
                <a:uFillTx/>
                <a:latin typeface="Arial"/>
              </a:rPr>
              <a:t>Spec: openspec/specs/platform/api-gateway/spec.md — default pass-through, header integrity, streaming, 502/504, health.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0516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Rectangle 2"/>
          <p:cNvSpPr/>
          <p:nvPr/>
        </p:nvSpPr>
        <p:spPr>
          <a:xfrm>
            <a:off x="0" y="960120"/>
            <a:ext cx="12191400" cy="50400"/>
          </a:xfrm>
          <a:prstGeom prst="rect">
            <a:avLst/>
          </a:prstGeom>
          <a:solidFill>
            <a:srgbClr val="8bc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502920" y="10980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8bc53d"/>
                </a:solidFill>
                <a:effectLst/>
                <a:uFillTx/>
                <a:latin typeface="Arial"/>
              </a:rPr>
              <a:t>ONE SOURCE OF STANDARDS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4"/>
          <p:cNvSpPr/>
          <p:nvPr/>
        </p:nvSpPr>
        <p:spPr>
          <a:xfrm>
            <a:off x="502920" y="32904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TypeScript, lint &amp; format (packages/config)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5"/>
          <p:cNvSpPr/>
          <p:nvPr/>
        </p:nvSpPr>
        <p:spPr>
          <a:xfrm>
            <a:off x="548640" y="1188720"/>
            <a:ext cx="11155320" cy="53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All new code is TypeScript under one strict base config — extend it, don't redefine it.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Shared ESLint (flat) + Prettier so formatting is never a review topic.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vitest.base.ts sets V8 coverage and excludes legacy from the number so it stays honest.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6"/>
          <p:cNvSpPr/>
          <p:nvPr/>
        </p:nvSpPr>
        <p:spPr>
          <a:xfrm>
            <a:off x="548640" y="2880360"/>
            <a:ext cx="11109600" cy="1499400"/>
          </a:xfrm>
          <a:prstGeom prst="rect">
            <a:avLst/>
          </a:prstGeom>
          <a:solidFill>
            <a:srgbClr val="0e1c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7"/>
          <p:cNvSpPr/>
          <p:nvPr/>
        </p:nvSpPr>
        <p:spPr>
          <a:xfrm>
            <a:off x="658440" y="2971800"/>
            <a:ext cx="10890000" cy="131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// packages/config/tsconfig.base.json  (extend in every package)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"strict": true, "noUncheckedIndexedAccess": true, "noImplicitOverride": true,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"verbatimModuleSyntax": true, "isolatedModules": true, "exactOptionalPropertyTypes": true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// your package:  { "extends": "@datahub/config/tsconfig.base.json" }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8"/>
          <p:cNvSpPr/>
          <p:nvPr/>
        </p:nvSpPr>
        <p:spPr>
          <a:xfrm>
            <a:off x="548640" y="63550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0" u="none" strike="noStrike">
                <a:solidFill>
                  <a:srgbClr val="6d6e71"/>
                </a:solidFill>
                <a:effectLst/>
                <a:uFillTx/>
                <a:latin typeface="Arial"/>
              </a:rPr>
              <a:t>noUncheckedIndexedAccess catches the 'undefined array element' class of bug at compile time — lean into it.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0516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Rectangle 2"/>
          <p:cNvSpPr/>
          <p:nvPr/>
        </p:nvSpPr>
        <p:spPr>
          <a:xfrm>
            <a:off x="0" y="960120"/>
            <a:ext cx="12191400" cy="50400"/>
          </a:xfrm>
          <a:prstGeom prst="rect">
            <a:avLst/>
          </a:prstGeom>
          <a:solidFill>
            <a:srgbClr val="8bc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3"/>
          <p:cNvSpPr/>
          <p:nvPr/>
        </p:nvSpPr>
        <p:spPr>
          <a:xfrm>
            <a:off x="502920" y="10980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8bc53d"/>
                </a:solidFill>
                <a:effectLst/>
                <a:uFillTx/>
                <a:latin typeface="Arial"/>
              </a:rPr>
              <a:t>HOW WE TEST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4"/>
          <p:cNvSpPr/>
          <p:nvPr/>
        </p:nvSpPr>
        <p:spPr>
          <a:xfrm>
            <a:off x="502920" y="32904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Testing standard &amp; the ports pattern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5"/>
          <p:cNvSpPr/>
          <p:nvPr/>
        </p:nvSpPr>
        <p:spPr>
          <a:xfrm>
            <a:off x="548640" y="1188720"/>
            <a:ext cx="11155320" cy="53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vitest + supertest. New code ships with tests; the CI gate enforces per-package coverage.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Key idea: a service depends on a repository INTERFACE (a port), not on the DB. Two adapters implement it: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901"/>
              </a:spcAft>
            </a:pPr>
            <a:r>
              <a:rPr lang="en-US" sz="1350" b="1" u="none" strike="noStrike">
                <a:solidFill>
                  <a:srgbClr val="05164d"/>
                </a:solidFill>
                <a:effectLst/>
                <a:uFillTx/>
                <a:latin typeface="Consolas"/>
              </a:rPr>
              <a:t>—  repository.drizzle.ts</a:t>
            </a:r>
            <a:r>
              <a:rPr lang="en-US" sz="1350" b="0" u="none" strike="noStrike">
                <a:solidFill>
                  <a:srgbClr val="6d6e71"/>
                </a:solidFill>
                <a:effectLst/>
                <a:uFillTx/>
                <a:latin typeface="Arial"/>
              </a:rPr>
              <a:t> — runtime (Postgres)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901"/>
              </a:spcAft>
            </a:pPr>
            <a:r>
              <a:rPr lang="en-US" sz="1350" b="1" u="none" strike="noStrike">
                <a:solidFill>
                  <a:srgbClr val="05164d"/>
                </a:solidFill>
                <a:effectLst/>
                <a:uFillTx/>
                <a:latin typeface="Consolas"/>
              </a:rPr>
              <a:t>—  repository.memory.ts</a:t>
            </a:r>
            <a:r>
              <a:rPr lang="en-US" sz="1350" b="0" u="none" strike="noStrike">
                <a:solidFill>
                  <a:srgbClr val="6d6e71"/>
                </a:solidFill>
                <a:effectLst/>
                <a:uFillTx/>
                <a:latin typeface="Arial"/>
              </a:rPr>
              <a:t> — in-memory, used by tests (no DB needed)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Result: the auth service is tested end-to-end with zero database — fast, deterministic, 95% covered.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6"/>
          <p:cNvSpPr/>
          <p:nvPr/>
        </p:nvSpPr>
        <p:spPr>
          <a:xfrm>
            <a:off x="548640" y="3977640"/>
            <a:ext cx="11109600" cy="987120"/>
          </a:xfrm>
          <a:prstGeom prst="rect">
            <a:avLst/>
          </a:prstGeom>
          <a:solidFill>
            <a:srgbClr val="0e1c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7"/>
          <p:cNvSpPr/>
          <p:nvPr/>
        </p:nvSpPr>
        <p:spPr>
          <a:xfrm>
            <a:off x="658440" y="4069080"/>
            <a:ext cx="108900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const repo = new InMemoryAuthRepository();  repo.addUser(...);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const svc = new AuthService({ repo, emailer, config });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await expect(svc.authenticate(email, 'wrong')).rejects.toBeInstanceOf(InvalidCredentialsError);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0516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ectangle 2"/>
          <p:cNvSpPr/>
          <p:nvPr/>
        </p:nvSpPr>
        <p:spPr>
          <a:xfrm>
            <a:off x="0" y="960120"/>
            <a:ext cx="12191400" cy="50400"/>
          </a:xfrm>
          <a:prstGeom prst="rect">
            <a:avLst/>
          </a:prstGeom>
          <a:solidFill>
            <a:srgbClr val="8bc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3"/>
          <p:cNvSpPr/>
          <p:nvPr/>
        </p:nvSpPr>
        <p:spPr>
          <a:xfrm>
            <a:off x="502920" y="10980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8bc53d"/>
                </a:solidFill>
                <a:effectLst/>
                <a:uFillTx/>
                <a:latin typeface="Arial"/>
              </a:rPr>
              <a:t>BUILD EVERY DOMAIN THIS WAY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4"/>
          <p:cNvSpPr/>
          <p:nvPr/>
        </p:nvSpPr>
        <p:spPr>
          <a:xfrm>
            <a:off x="502920" y="32904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The module blueprint (auth = reference)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5"/>
          <p:cNvSpPr/>
          <p:nvPr/>
        </p:nvSpPr>
        <p:spPr>
          <a:xfrm>
            <a:off x="548640" y="1188720"/>
            <a:ext cx="5943240" cy="2779560"/>
          </a:xfrm>
          <a:prstGeom prst="rect">
            <a:avLst/>
          </a:prstGeom>
          <a:solidFill>
            <a:srgbClr val="0e1c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6"/>
          <p:cNvSpPr/>
          <p:nvPr/>
        </p:nvSpPr>
        <p:spPr>
          <a:xfrm>
            <a:off x="658440" y="1280160"/>
            <a:ext cx="5723640" cy="259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1" u="none" strike="noStrike">
                <a:solidFill>
                  <a:srgbClr val="9bd05a"/>
                </a:solidFill>
                <a:effectLst/>
                <a:uFillTx/>
                <a:latin typeface="Consolas"/>
              </a:rPr>
              <a:t>apps/api/src/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modules/&lt;domain&gt;/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  contract.ts     zod (from packages/contracts)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  ports.ts        Repository + Emailer interfaces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  service.ts      logic — ONLY cross-module entry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  repository.drizzle.ts   runtime adapter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  repository.memory.ts    test adapter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  router.ts       thin HTTP; validate via contract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  middleware.ts   requireAuth, guards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  *.test.ts       vitest + supertest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7"/>
          <p:cNvSpPr/>
          <p:nvPr/>
        </p:nvSpPr>
        <p:spPr>
          <a:xfrm>
            <a:off x="6766560" y="1325880"/>
            <a:ext cx="5028840" cy="525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05164d"/>
                </a:solidFill>
                <a:effectLst/>
                <a:uFillTx/>
                <a:latin typeface="Arial"/>
              </a:rPr>
              <a:t>•  Definition of Done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Contract published (zod).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Repository: Drizzle + in-memory.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Service is the only cross-module entry.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Router validates every input.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Tests meet the coverage gate.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Gateway flipped behind a flag.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Legacy deleted after a green soak.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8"/>
          <p:cNvSpPr/>
          <p:nvPr/>
        </p:nvSpPr>
        <p:spPr>
          <a:xfrm>
            <a:off x="548640" y="63550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0" u="none" strike="noStrike">
                <a:solidFill>
                  <a:srgbClr val="6d6e71"/>
                </a:solidFill>
                <a:effectLst/>
                <a:uFillTx/>
                <a:latin typeface="Arial"/>
              </a:rPr>
              <a:t>Rule: modules talk only through typed service interfaces; raw SQL lives only in repositories.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0516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Rectangle 2"/>
          <p:cNvSpPr/>
          <p:nvPr/>
        </p:nvSpPr>
        <p:spPr>
          <a:xfrm>
            <a:off x="0" y="960120"/>
            <a:ext cx="12191400" cy="50400"/>
          </a:xfrm>
          <a:prstGeom prst="rect">
            <a:avLst/>
          </a:prstGeom>
          <a:solidFill>
            <a:srgbClr val="8bc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3"/>
          <p:cNvSpPr/>
          <p:nvPr/>
        </p:nvSpPr>
        <p:spPr>
          <a:xfrm>
            <a:off x="502920" y="10980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8bc53d"/>
                </a:solidFill>
                <a:effectLst/>
                <a:uFillTx/>
                <a:latin typeface="Arial"/>
              </a:rPr>
              <a:t>TYPES END TO END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4"/>
          <p:cNvSpPr/>
          <p:nvPr/>
        </p:nvSpPr>
        <p:spPr>
          <a:xfrm>
            <a:off x="502920" y="32904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Contracts (zod) + database (Drizzle)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5"/>
          <p:cNvSpPr/>
          <p:nvPr/>
        </p:nvSpPr>
        <p:spPr>
          <a:xfrm>
            <a:off x="548640" y="1188720"/>
            <a:ext cx="11155320" cy="53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350" b="1" u="none" strike="noStrike">
                <a:solidFill>
                  <a:srgbClr val="05164d"/>
                </a:solidFill>
                <a:effectLst/>
                <a:uFillTx/>
                <a:latin typeface="Consolas"/>
              </a:rPr>
              <a:t>•  packages/contracts</a:t>
            </a:r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 — zod schemas are the single request/response shape, shared by API and (soon) the SPA. Validate at the router; infer the TS types.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350" b="1" u="none" strike="noStrike">
                <a:solidFill>
                  <a:srgbClr val="05164d"/>
                </a:solidFill>
                <a:effectLst/>
                <a:uFillTx/>
                <a:latin typeface="Consolas"/>
              </a:rPr>
              <a:t>•  packages/db</a:t>
            </a:r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 — Drizzle is the one typed data layer, replacing the Supabase + raw-pg split. Introspect prod with drizzle-kit pull.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Repositories are the only place queries live. Migrations move to Drizzle; the legacy 76-file set is frozen.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350" b="1" u="none" strike="noStrike">
                <a:solidFill>
                  <a:srgbClr val="b45e08"/>
                </a:solidFill>
                <a:effectLst/>
                <a:uFillTx/>
                <a:latin typeface="Arial"/>
              </a:rPr>
              <a:t>•  Version lesson: </a:t>
            </a:r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drizzle-kit 0.30.6 imports drizzle-orm/gel-core, added in drizzle-orm 0.40 — keep the kit/orm pair in step (we pin orm ^0.40.1).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6"/>
          <p:cNvSpPr/>
          <p:nvPr/>
        </p:nvSpPr>
        <p:spPr>
          <a:xfrm>
            <a:off x="548640" y="4297680"/>
            <a:ext cx="11109600" cy="475200"/>
          </a:xfrm>
          <a:prstGeom prst="rect">
            <a:avLst/>
          </a:prstGeom>
          <a:solidFill>
            <a:srgbClr val="0e1c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7"/>
          <p:cNvSpPr/>
          <p:nvPr/>
        </p:nvSpPr>
        <p:spPr>
          <a:xfrm>
            <a:off x="658440" y="4389120"/>
            <a:ext cx="10890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5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pnpm --filter @datahub/db db:pull      # introspect the local/prod DB into Drizzle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0516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ectangle 2"/>
          <p:cNvSpPr/>
          <p:nvPr/>
        </p:nvSpPr>
        <p:spPr>
          <a:xfrm>
            <a:off x="0" y="960120"/>
            <a:ext cx="12191400" cy="50400"/>
          </a:xfrm>
          <a:prstGeom prst="rect">
            <a:avLst/>
          </a:prstGeom>
          <a:solidFill>
            <a:srgbClr val="8bc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502920" y="10980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8bc53d"/>
                </a:solidFill>
                <a:effectLst/>
                <a:uFillTx/>
                <a:latin typeface="Arial"/>
              </a:rPr>
              <a:t>THE FIXES, AND THE WHY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4"/>
          <p:cNvSpPr/>
          <p:nvPr/>
        </p:nvSpPr>
        <p:spPr>
          <a:xfrm>
            <a:off x="502920" y="32904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Security — for the record (educational)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9" name="Table 5"/>
          <p:cNvGraphicFramePr/>
          <p:nvPr/>
        </p:nvGraphicFramePr>
        <p:xfrm>
          <a:off x="548640" y="1234440"/>
          <a:ext cx="11109600" cy="3382920"/>
        </p:xfrm>
        <a:graphic>
          <a:graphicData uri="http://schemas.openxmlformats.org/drawingml/2006/table">
            <a:tbl>
              <a:tblPr/>
              <a:tblGrid>
                <a:gridCol w="833040"/>
                <a:gridCol w="5184360"/>
                <a:gridCol w="5091840"/>
              </a:tblGrid>
              <a:tr h="67644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Finding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5164d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Anti-pattern (before)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5164d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Fix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5164d"/>
                    </a:solidFill>
                  </a:tcPr>
                </a:tc>
              </a:tr>
              <a:tr h="67644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C1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Shared static password branch in authService.js (default "123456")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bcrypt-only for all users; random provision; reset flow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44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C2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JWT signed with || "change_me" fallback; booted anyway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config/secrets.js — mandatory secret, fail-closed at boot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  <a:tr h="67644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H3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Token accepted from ?token= query (leaks to logs)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Header-only; opt-in per route only for the QBO redirect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44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H1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No limit on POST /auth/login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express-rate-limit, keyed by IP+email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30" name="TextBox 6"/>
          <p:cNvSpPr/>
          <p:nvPr/>
        </p:nvSpPr>
        <p:spPr>
          <a:xfrm>
            <a:off x="548640" y="63550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0" u="none" strike="noStrike">
                <a:solidFill>
                  <a:srgbClr val="6d6e71"/>
                </a:solidFill>
                <a:effectLst/>
                <a:uFillTx/>
                <a:latin typeface="Arial"/>
              </a:rPr>
              <a:t>Takeaway: no auth 'fallbacks' or shared secrets; fail closed; never accept credentials in URLs; rate-limit sensitive endpoints.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0516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Rectangle 2"/>
          <p:cNvSpPr/>
          <p:nvPr/>
        </p:nvSpPr>
        <p:spPr>
          <a:xfrm>
            <a:off x="0" y="960120"/>
            <a:ext cx="12191400" cy="50400"/>
          </a:xfrm>
          <a:prstGeom prst="rect">
            <a:avLst/>
          </a:prstGeom>
          <a:solidFill>
            <a:srgbClr val="8bc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502920" y="10980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8bc53d"/>
                </a:solidFill>
                <a:effectLst/>
                <a:uFillTx/>
                <a:latin typeface="Arial"/>
              </a:rPr>
              <a:t>ONE COMMAND TO RUN EVERYTHING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4"/>
          <p:cNvSpPr/>
          <p:nvPr/>
        </p:nvSpPr>
        <p:spPr>
          <a:xfrm>
            <a:off x="502920" y="32904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Local dev environment (Nix + devenv)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5"/>
          <p:cNvSpPr/>
          <p:nvPr/>
        </p:nvSpPr>
        <p:spPr>
          <a:xfrm>
            <a:off x="548640" y="1188720"/>
            <a:ext cx="11155320" cy="53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direnv allow (or nix develop) gives Node 22 + pnpm 9.15.9 + a local Postgres — no external services.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Env is wired: DATABASE_URL, a dev JWT_SECRET, PG* — so you can run the auth module end-to-end locally.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6"/>
          <p:cNvSpPr/>
          <p:nvPr/>
        </p:nvSpPr>
        <p:spPr>
          <a:xfrm>
            <a:off x="548640" y="2514600"/>
            <a:ext cx="5943240" cy="1243080"/>
          </a:xfrm>
          <a:prstGeom prst="rect">
            <a:avLst/>
          </a:prstGeom>
          <a:solidFill>
            <a:srgbClr val="0e1c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7"/>
          <p:cNvSpPr/>
          <p:nvPr/>
        </p:nvSpPr>
        <p:spPr>
          <a:xfrm>
            <a:off x="658440" y="2606040"/>
            <a:ext cx="572364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direnv allow            # enter the shell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devenv up -d --no-tui   # start Postgres :5433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load-schema             # seed tables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d6e2f5"/>
                </a:solidFill>
                <a:effectLst/>
                <a:uFillTx/>
                <a:latin typeface="Consolas"/>
              </a:rPr>
              <a:t>pnpm test               # full gate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8"/>
          <p:cNvSpPr/>
          <p:nvPr/>
        </p:nvSpPr>
        <p:spPr>
          <a:xfrm>
            <a:off x="6675120" y="2377440"/>
            <a:ext cx="512028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300" b="1" u="none" strike="noStrike">
                <a:solidFill>
                  <a:srgbClr val="b45e08"/>
                </a:solidFill>
                <a:effectLst/>
                <a:uFillTx/>
                <a:latin typeface="Arial"/>
              </a:rPr>
              <a:t>•  Gotchas we hit (so you don't):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25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Inside nix develop, devenv is a reduced wrapper — use the standalone CLI for up -d/--no-tui.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25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Don't set PGPORT in env — devenv's postgres module owns it (type conflict).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25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5432 is often taken; we default to 5433.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0516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Rectangle 2"/>
          <p:cNvSpPr/>
          <p:nvPr/>
        </p:nvSpPr>
        <p:spPr>
          <a:xfrm>
            <a:off x="0" y="960120"/>
            <a:ext cx="12191400" cy="50400"/>
          </a:xfrm>
          <a:prstGeom prst="rect">
            <a:avLst/>
          </a:prstGeom>
          <a:solidFill>
            <a:srgbClr val="8bc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3"/>
          <p:cNvSpPr/>
          <p:nvPr/>
        </p:nvSpPr>
        <p:spPr>
          <a:xfrm>
            <a:off x="502920" y="10980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8bc53d"/>
                </a:solidFill>
                <a:effectLst/>
                <a:uFillTx/>
                <a:latin typeface="Arial"/>
              </a:rPr>
              <a:t>REUSABLE UI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4"/>
          <p:cNvSpPr/>
          <p:nvPr/>
        </p:nvSpPr>
        <p:spPr>
          <a:xfrm>
            <a:off x="502920" y="32904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Design system (packages/ui)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5"/>
          <p:cNvSpPr/>
          <p:nvPr/>
        </p:nvSpPr>
        <p:spPr>
          <a:xfrm>
            <a:off x="548640" y="1188720"/>
            <a:ext cx="11155320" cy="53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13 components (Button, Input, Dialog, Table, Select, DropdownMenu, Tabs, Tooltip, Toast, Card, Badge, Skeleton, Label) — Radix + Tailwind, source we own.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One shared token preset (tailwind-preset.js) is used by BOTH the app and the library — change a token once.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Styled with the existing tokens (bg-primary, rounded-card) for ~90%+ visual parity — not shadcn's default palette.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cva for variants, cn() (clsx + tailwind-merge) for classes; tested with @testing-library/react + jsdom (focus-trap, keyboard nav).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Adopt incrementally: we migrated Users.jsx's DeleteModal to the Dialog as the proof.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6"/>
          <p:cNvSpPr/>
          <p:nvPr/>
        </p:nvSpPr>
        <p:spPr>
          <a:xfrm>
            <a:off x="548640" y="63550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0" u="none" strike="noStrike">
                <a:solidFill>
                  <a:srgbClr val="6d6e71"/>
                </a:solidFill>
                <a:effectLst/>
                <a:uFillTx/>
                <a:latin typeface="Arial"/>
              </a:rPr>
              <a:t>Consume from a .jsx page today: import { Dialog, Button } from '@datahub/ui'  — Vite transpiles the .tsx.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0516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2"/>
          <p:cNvSpPr/>
          <p:nvPr/>
        </p:nvSpPr>
        <p:spPr>
          <a:xfrm>
            <a:off x="0" y="960120"/>
            <a:ext cx="12191400" cy="50400"/>
          </a:xfrm>
          <a:prstGeom prst="rect">
            <a:avLst/>
          </a:prstGeom>
          <a:solidFill>
            <a:srgbClr val="8bc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3"/>
          <p:cNvSpPr/>
          <p:nvPr/>
        </p:nvSpPr>
        <p:spPr>
          <a:xfrm>
            <a:off x="502920" y="10980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8bc53d"/>
                </a:solidFill>
                <a:effectLst/>
                <a:uFillTx/>
                <a:latin typeface="Arial"/>
              </a:rPr>
              <a:t>HOW WE WORK NOW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4"/>
          <p:cNvSpPr/>
          <p:nvPr/>
        </p:nvSpPr>
        <p:spPr>
          <a:xfrm>
            <a:off x="502920" y="32904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Engineering conventions going forward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9" name="Table 5"/>
          <p:cNvGraphicFramePr/>
          <p:nvPr/>
        </p:nvGraphicFramePr>
        <p:xfrm>
          <a:off x="548640" y="1234440"/>
          <a:ext cx="11109600" cy="4224240"/>
        </p:xfrm>
        <a:graphic>
          <a:graphicData uri="http://schemas.openxmlformats.org/drawingml/2006/table">
            <a:tbl>
              <a:tblPr/>
              <a:tblGrid>
                <a:gridCol w="1828800"/>
                <a:gridCol w="9281160"/>
              </a:tblGrid>
              <a:tr h="60336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Area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5164d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The convention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5164d"/>
                    </a:solidFill>
                  </a:tcPr>
                </a:tc>
              </a:tr>
              <a:tr h="60336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Planning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OpenSpec: propose -&gt; apply -&gt; archive (openspec/changes/). Spec before code.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36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Decisions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Write an ADR under docs/adr/ for anything significant (context, options, why).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  <a:tr h="60336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Branches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Short-lived feature branches off ba/rearch + PR — not per-dev-per-day long branches.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36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Commits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Conventional Commits (feat/fix/chore/refactor/docs) — you already trend this way.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  <a:tr h="60336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Quality gate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CI must pass: typecheck + lint + test/coverage + audit. No new code without tests.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36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Boundaries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Cross-module only via service interfaces; raw SQL only in repositories.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0516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ectangle 2"/>
          <p:cNvSpPr/>
          <p:nvPr/>
        </p:nvSpPr>
        <p:spPr>
          <a:xfrm>
            <a:off x="0" y="960120"/>
            <a:ext cx="12191400" cy="50400"/>
          </a:xfrm>
          <a:prstGeom prst="rect">
            <a:avLst/>
          </a:prstGeom>
          <a:solidFill>
            <a:srgbClr val="8bc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3"/>
          <p:cNvSpPr/>
          <p:nvPr/>
        </p:nvSpPr>
        <p:spPr>
          <a:xfrm>
            <a:off x="502920" y="10980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8bc53d"/>
                </a:solidFill>
                <a:effectLst/>
                <a:uFillTx/>
                <a:latin typeface="Arial"/>
              </a:rPr>
              <a:t>WHAT WE'RE MOVING AWAY FROM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4"/>
          <p:cNvSpPr/>
          <p:nvPr/>
        </p:nvSpPr>
        <p:spPr>
          <a:xfrm>
            <a:off x="502920" y="32904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Patterns to retire (and the replacement)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4" name="Table 5"/>
          <p:cNvGraphicFramePr/>
          <p:nvPr/>
        </p:nvGraphicFramePr>
        <p:xfrm>
          <a:off x="548640" y="1234440"/>
          <a:ext cx="11109600" cy="3840480"/>
        </p:xfrm>
        <a:graphic>
          <a:graphicData uri="http://schemas.openxmlformats.org/drawingml/2006/table">
            <a:tbl>
              <a:tblPr/>
              <a:tblGrid>
                <a:gridCol w="3108960"/>
                <a:gridCol w="3657600"/>
                <a:gridCol w="4343400"/>
              </a:tblGrid>
              <a:tr h="54864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Legacy pattern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5164d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Why it hurts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5164d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Replacement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5164d"/>
                    </a:solidFill>
                  </a:tcPr>
                </a:tc>
              </a:tr>
              <a:tr h="54864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Supabase + 9 raw pg pools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Two behaviors, no single truth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One Drizzle layer (packages/db)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God-files (9,088-line service)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Untestable, merge conflicts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modules/&lt;domain&gt; split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  <a:tr h="54864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Logic in controllers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Can't unit-test without Express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Thin router -&gt; service -&gt; repo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863 console.* / 31 empty catch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Noisy, swallowed errors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pino structured logs; handle errors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  <a:tr h="54864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Committed .env/.db/.pyc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Secret + data exposure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.gitignore + secret scanning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OTP test-bypass in prod path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Ships a backdoor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Arial"/>
                        </a:rPr>
                        <a:t>Test doubles / in-memory adapters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0516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Rectangle 2"/>
          <p:cNvSpPr/>
          <p:nvPr/>
        </p:nvSpPr>
        <p:spPr>
          <a:xfrm>
            <a:off x="0" y="960120"/>
            <a:ext cx="12191400" cy="50400"/>
          </a:xfrm>
          <a:prstGeom prst="rect">
            <a:avLst/>
          </a:prstGeom>
          <a:solidFill>
            <a:srgbClr val="8bc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3"/>
          <p:cNvSpPr/>
          <p:nvPr/>
        </p:nvSpPr>
        <p:spPr>
          <a:xfrm>
            <a:off x="502920" y="10980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8bc53d"/>
                </a:solidFill>
                <a:effectLst/>
                <a:uFillTx/>
                <a:latin typeface="Arial"/>
              </a:rPr>
              <a:t>HONEST AND ENCOURAGING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4"/>
          <p:cNvSpPr/>
          <p:nvPr/>
        </p:nvSpPr>
        <p:spPr>
          <a:xfrm>
            <a:off x="502920" y="32904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Foundations: where we are, where we're heading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9" name="Table 5"/>
          <p:cNvGraphicFramePr/>
          <p:nvPr/>
        </p:nvGraphicFramePr>
        <p:xfrm>
          <a:off x="548640" y="1234440"/>
          <a:ext cx="11109600" cy="340128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3291840"/>
                <a:gridCol w="3246120"/>
              </a:tblGrid>
              <a:tr h="56664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Area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5164d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Was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5164d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Now (new code)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5164d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Target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5164d"/>
                    </a:solidFill>
                  </a:tcPr>
                </a:tc>
              </a:tr>
              <a:tr h="56664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1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Automated checks (CI)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6d6e71"/>
                          </a:solidFill>
                          <a:effectLst/>
                          <a:uFillTx/>
                          <a:latin typeface="Arial"/>
                        </a:rPr>
                        <a:t>none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476e2c"/>
                          </a:solidFill>
                          <a:effectLst/>
                          <a:uFillTx/>
                          <a:latin typeface="Arial"/>
                        </a:rPr>
                        <a:t>full gate on PRs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required on all merges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1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Authentication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6d6e71"/>
                          </a:solidFill>
                          <a:effectLst/>
                          <a:uFillTx/>
                          <a:latin typeface="Arial"/>
                        </a:rPr>
                        <a:t>gaps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476e2c"/>
                          </a:solidFill>
                          <a:effectLst/>
                          <a:uFillTx/>
                          <a:latin typeface="Arial"/>
                        </a:rPr>
                        <a:t>rebuilt + soak-tested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staged rollout, retire legacy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  <a:tr h="56664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1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Testing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6d6e71"/>
                          </a:solidFill>
                          <a:effectLst/>
                          <a:uFillTx/>
                          <a:latin typeface="Arial"/>
                        </a:rPr>
                        <a:t>0 tests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476e2c"/>
                          </a:solidFill>
                          <a:effectLst/>
                          <a:uFillTx/>
                          <a:latin typeface="Arial"/>
                        </a:rPr>
                        <a:t>60+, gated 80-95%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cover legacy as touched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1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Type safety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6d6e71"/>
                          </a:solidFill>
                          <a:effectLst/>
                          <a:uFillTx/>
                          <a:latin typeface="Arial"/>
                        </a:rPr>
                        <a:t>all JS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476e2c"/>
                          </a:solidFill>
                          <a:effectLst/>
                          <a:uFillTx/>
                          <a:latin typeface="Arial"/>
                        </a:rPr>
                        <a:t>100% TS (new)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migrate legacy incrementally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  <a:tr h="566640"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1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Data layer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6d6e71"/>
                          </a:solidFill>
                          <a:effectLst/>
                          <a:uFillTx/>
                          <a:latin typeface="Arial"/>
                        </a:rPr>
                        <a:t>dual path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476e2c"/>
                          </a:solidFill>
                          <a:effectLst/>
                          <a:uFillTx/>
                          <a:latin typeface="Arial"/>
                        </a:rPr>
                        <a:t>Drizzle (auth)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05164d"/>
                          </a:solidFill>
                          <a:effectLst/>
                          <a:uFillTx/>
                          <a:latin typeface="Arial"/>
                        </a:rPr>
                        <a:t>one layer across domains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0" name="TextBox 6"/>
          <p:cNvSpPr/>
          <p:nvPr/>
        </p:nvSpPr>
        <p:spPr>
          <a:xfrm>
            <a:off x="548640" y="63550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0" u="none" strike="noStrike">
                <a:solidFill>
                  <a:srgbClr val="6d6e71"/>
                </a:solidFill>
                <a:effectLst/>
                <a:uFillTx/>
                <a:latin typeface="Arial"/>
              </a:rPr>
              <a:t>No letter grades here on purpose — the point is trajectory. The foundation is in; now we widen it together.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0516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Rectangle 2"/>
          <p:cNvSpPr/>
          <p:nvPr/>
        </p:nvSpPr>
        <p:spPr>
          <a:xfrm>
            <a:off x="0" y="960120"/>
            <a:ext cx="12191400" cy="50400"/>
          </a:xfrm>
          <a:prstGeom prst="rect">
            <a:avLst/>
          </a:prstGeom>
          <a:solidFill>
            <a:srgbClr val="8bc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3"/>
          <p:cNvSpPr/>
          <p:nvPr/>
        </p:nvSpPr>
        <p:spPr>
          <a:xfrm>
            <a:off x="502920" y="10980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1" u="none" strike="noStrike">
                <a:solidFill>
                  <a:srgbClr val="8bc53d"/>
                </a:solidFill>
                <a:effectLst/>
                <a:uFillTx/>
                <a:latin typeface="Arial"/>
              </a:rPr>
              <a:t>WHERE WE GO NEXT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4"/>
          <p:cNvSpPr/>
          <p:nvPr/>
        </p:nvSpPr>
        <p:spPr>
          <a:xfrm>
            <a:off x="502920" y="32904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Roadmap &amp; how to grow into it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5"/>
          <p:cNvSpPr/>
          <p:nvPr/>
        </p:nvSpPr>
        <p:spPr>
          <a:xfrm>
            <a:off x="548640" y="1188720"/>
            <a:ext cx="11155320" cy="53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400" b="1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Next domains (same blueprint): </a:t>
            </a: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companies -&gt; users -&gt; folders -&gt; uploads/requests/messages -&gt; reports -&gt; quickbooks -&gt; extraction.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400" b="1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Pairing: </a:t>
            </a: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each engineer takes a domain and pairs on the first module; auth is the worked example to copy.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400" b="1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Frontend: </a:t>
            </a: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adopt @datahub/ui screen-by-screen; convert .jsx -&gt; .tsx as you touch files.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400" b="1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Legacy tests: </a:t>
            </a: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add a test whenever you fix a bug in backend/ — ratchet coverage up.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400" b="1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•  Owner decision: </a:t>
            </a:r>
            <a:r>
              <a:rPr lang="en-US" sz="1400" b="0" u="none" strike="noStrike">
                <a:solidFill>
                  <a:srgbClr val="1a1a2e"/>
                </a:solidFill>
                <a:effectLst/>
                <a:uFillTx/>
                <a:latin typeface="Arial"/>
              </a:rPr>
              <a:t>rotate the exposed credential + scrub git history (destructive — needs sign-off).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6"/>
          <p:cNvSpPr/>
          <p:nvPr/>
        </p:nvSpPr>
        <p:spPr>
          <a:xfrm>
            <a:off x="548640" y="63550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050" b="0" u="none" strike="noStrike">
                <a:solidFill>
                  <a:srgbClr val="6d6e71"/>
                </a:solidFill>
                <a:effectLst/>
                <a:uFillTx/>
                <a:latin typeface="Arial"/>
              </a:rPr>
              <a:t>Start here: docs/REARCH_LOG.md and docs/adr/. Try it: openspec propose a small change, then apply it.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516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Rectangle 2"/>
          <p:cNvSpPr/>
          <p:nvPr/>
        </p:nvSpPr>
        <p:spPr>
          <a:xfrm>
            <a:off x="0" y="4206240"/>
            <a:ext cx="12191400" cy="50400"/>
          </a:xfrm>
          <a:prstGeom prst="rect">
            <a:avLst/>
          </a:prstGeom>
          <a:solidFill>
            <a:srgbClr val="8bc5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3"/>
          <p:cNvSpPr/>
          <p:nvPr/>
        </p:nvSpPr>
        <p:spPr>
          <a:xfrm>
            <a:off x="822960" y="1920240"/>
            <a:ext cx="10515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The foundation is in. Now we scale it — together.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4"/>
          <p:cNvSpPr/>
          <p:nvPr/>
        </p:nvSpPr>
        <p:spPr>
          <a:xfrm>
            <a:off x="822960" y="310896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0" u="none" strike="noStrike">
                <a:solidFill>
                  <a:srgbClr val="8bc53d"/>
                </a:solidFill>
                <a:effectLst/>
                <a:uFillTx/>
                <a:latin typeface="Arial"/>
              </a:rPr>
              <a:t>Copy the auth module. Keep the tests green. Write the spec first. Ask questions.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5"/>
          <p:cNvSpPr/>
          <p:nvPr/>
        </p:nvSpPr>
        <p:spPr>
          <a:xfrm>
            <a:off x="822960" y="4480560"/>
            <a:ext cx="106066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c7d2e6"/>
                </a:solidFill>
                <a:effectLst/>
                <a:uFillTx/>
                <a:latin typeface="Consolas"/>
              </a:rPr>
              <a:t>Docs: docs/REARCH_LOG.md  ·  docs/adr/  ·  docs/MODERNIZATION_PLAN.md  ·  openspec/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LibreOffice/25.8.5.2$Linux_X86_64 LibreOffice_project/580$Build-2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2026-08-11T08:01:32Z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