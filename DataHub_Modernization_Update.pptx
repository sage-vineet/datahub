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63500"/>
          </a:xfrm>
          <a:prstGeom prst="rect">
            <a:avLst/>
          </a:prstGeom>
          <a:solidFill>
            <a:srgbClr val="8BC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DataHub — Security &amp; Modernization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8BC53D"/>
                </a:solidFill>
                <a:latin typeface="Arial"/>
              </a:rPr>
              <a:t>What changed, why it matters, and what's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692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Prepared for product and customers  ·  August 2026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9C4DA"/>
                </a:solidFill>
                <a:latin typeface="Arial"/>
              </a:rPr>
              <a:t>All work done on an isolated branch — the live product was not changed.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51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8BC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BC53D"/>
                </a:solidFill>
                <a:latin typeface="Arial"/>
              </a:rPr>
              <a:t>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>
                <a:solidFill>
                  <a:srgbClr val="1A1A2E"/>
                </a:solidFill>
                <a:latin typeface="Arial"/>
              </a:rPr>
              <a:t>•  Fixed 3 critical security holes that each allowed full account takeover.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>
                <a:solidFill>
                  <a:srgbClr val="1A1A2E"/>
                </a:solidFill>
                <a:latin typeface="Arial"/>
              </a:rPr>
              <a:t>•  Added the first automated tests and an automatic quality gate: 0 to 60+ tests on new code.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>
                <a:solidFill>
                  <a:srgbClr val="1A1A2E"/>
                </a:solidFill>
                <a:latin typeface="Arial"/>
              </a:rPr>
              <a:t>•  Built a modern foundation (TypeScript, one database layer, an API gateway) with a safe, piece-by-piece path to migrate the rest.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>
                <a:solidFill>
                  <a:srgbClr val="1A1A2E"/>
                </a:solidFill>
                <a:latin typeface="Arial"/>
              </a:rPr>
              <a:t>•  Rebuilt login and authentication and verified it end-to-end against a real database — 9 of 9 checks passed.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>
                <a:solidFill>
                  <a:srgbClr val="1A1A2E"/>
                </a:solidFill>
                <a:latin typeface="Arial"/>
              </a:rPr>
              <a:t>•  Delivered a one-command developer setup and a reusable UI component library.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>
                <a:solidFill>
                  <a:srgbClr val="1A1A2E"/>
                </a:solidFill>
                <a:latin typeface="Arial"/>
              </a:rPr>
              <a:t>•  Zero disruption: everything on an isolated branch, every step reversible, no customer-facing change yet.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51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8BC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BC53D"/>
                </a:solidFill>
                <a:latin typeface="Arial"/>
              </a:rPr>
              <a:t>INDEPENDENT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Where we started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B01C22"/>
                </a:solidFill>
                <a:latin typeface="Arial"/>
              </a:rPr>
              <a:t>Overall grade: F — not safe to run in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9728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50">
                <a:solidFill>
                  <a:srgbClr val="1A1A2E"/>
                </a:solidFill>
                <a:latin typeface="Arial"/>
              </a:rPr>
              <a:t>•  Three separate login weaknesses, each allowing account takeover — including one shared password ("123456") that logged into every client account.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50">
                <a:solidFill>
                  <a:srgbClr val="1A1A2E"/>
                </a:solidFill>
                <a:latin typeface="Arial"/>
              </a:rPr>
              <a:t>•  Live credentials and a copy of the database were committed into the code repository.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50">
                <a:solidFill>
                  <a:srgbClr val="1A1A2E"/>
                </a:solidFill>
                <a:latin typeface="Arial"/>
              </a:rPr>
              <a:t>•  0 automated tests across roughly 132,000 lines of financial code.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50">
                <a:solidFill>
                  <a:srgbClr val="1A1A2E"/>
                </a:solidFill>
                <a:latin typeface="Arial"/>
              </a:rPr>
              <a:t>•  No automatic checks on new code — the build's "lint" step did nothing.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50">
                <a:solidFill>
                  <a:srgbClr val="1A1A2E"/>
                </a:solidFill>
                <a:latin typeface="Arial"/>
              </a:rPr>
              <a:t>•  100% untyped JavaScript, two competing database-access methods, and single files up to 9,088 lines long.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51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8BC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BC53D"/>
                </a:solidFill>
                <a:latin typeface="Arial"/>
              </a:rPr>
              <a:t>RISK REMOVED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Security — the critical fixes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25880"/>
          <a:ext cx="1088136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4352544"/>
                <a:gridCol w="4352544"/>
              </a:tblGrid>
              <a:tr h="713232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anchor="ctr" marL="109728" marT="45720" marB="45720">
                    <a:solidFill>
                      <a:srgbClr val="051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Before</a:t>
                      </a:r>
                    </a:p>
                  </a:txBody>
                  <a:tcPr anchor="ctr" marL="109728" marT="45720" marB="45720">
                    <a:solidFill>
                      <a:srgbClr val="051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After</a:t>
                      </a:r>
                    </a:p>
                  </a:txBody>
                  <a:tcPr anchor="ctr" marL="109728" marT="45720" marB="45720">
                    <a:solidFill>
                      <a:srgbClr val="05164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5164D"/>
                          </a:solidFill>
                          <a:latin typeface="Arial"/>
                        </a:rPr>
                        <a:t>Client login</a:t>
                      </a:r>
                    </a:p>
                  </a:txBody>
                  <a:tcPr anchor="ctr"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01C22"/>
                          </a:solidFill>
                          <a:latin typeface="Arial"/>
                        </a:rPr>
                        <a:t>One shared password logged into every client account</a:t>
                      </a:r>
                    </a:p>
                  </a:txBody>
                  <a:tcPr anchor="ctr"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6E2C"/>
                          </a:solidFill>
                          <a:latin typeface="Arial"/>
                        </a:rPr>
                        <a:t>Per-user password + secure reset flow</a:t>
                      </a:r>
                    </a:p>
                  </a:txBody>
                  <a:tcPr anchor="ctr" marL="109728" marT="36576" marB="36576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5164D"/>
                          </a:solidFill>
                          <a:latin typeface="Arial"/>
                        </a:rPr>
                        <a:t>App tokens</a:t>
                      </a:r>
                    </a:p>
                  </a:txBody>
                  <a:tcPr anchor="ctr" marL="109728" marT="36576" marB="36576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01C22"/>
                          </a:solidFill>
                          <a:latin typeface="Arial"/>
                        </a:rPr>
                        <a:t>Fell back to a public default key — forgeable by anyone</a:t>
                      </a:r>
                    </a:p>
                  </a:txBody>
                  <a:tcPr anchor="ctr" marL="109728" marT="36576" marB="36576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6E2C"/>
                          </a:solidFill>
                          <a:latin typeface="Arial"/>
                        </a:rPr>
                        <a:t>Mandatory secret; server refuses to start without it</a:t>
                      </a:r>
                    </a:p>
                  </a:txBody>
                  <a:tcPr anchor="ctr" marL="109728" marT="36576" marB="36576">
                    <a:solidFill>
                      <a:srgbClr val="F2F5F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5164D"/>
                          </a:solidFill>
                          <a:latin typeface="Arial"/>
                        </a:rPr>
                        <a:t>Tokens in URLs</a:t>
                      </a:r>
                    </a:p>
                  </a:txBody>
                  <a:tcPr anchor="ctr"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01C22"/>
                          </a:solidFill>
                          <a:latin typeface="Arial"/>
                        </a:rPr>
                        <a:t>Access tokens exposed in web addresses and logs</a:t>
                      </a:r>
                    </a:p>
                  </a:txBody>
                  <a:tcPr anchor="ctr"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6E2C"/>
                          </a:solidFill>
                          <a:latin typeface="Arial"/>
                        </a:rPr>
                        <a:t>Removed (kept only for one required redirect)</a:t>
                      </a:r>
                    </a:p>
                  </a:txBody>
                  <a:tcPr anchor="ctr" marL="109728" marT="36576" marB="36576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5164D"/>
                          </a:solidFill>
                          <a:latin typeface="Arial"/>
                        </a:rPr>
                        <a:t>Login abuse</a:t>
                      </a:r>
                    </a:p>
                  </a:txBody>
                  <a:tcPr anchor="ctr" marL="109728" marT="36576" marB="36576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01C22"/>
                          </a:solidFill>
                          <a:latin typeface="Arial"/>
                        </a:rPr>
                        <a:t>No limit on password guessing</a:t>
                      </a:r>
                    </a:p>
                  </a:txBody>
                  <a:tcPr anchor="ctr" marL="109728" marT="36576" marB="36576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6E2C"/>
                          </a:solidFill>
                          <a:latin typeface="Arial"/>
                        </a:rPr>
                        <a:t>Rate-limited — blocks after repeated failures</a:t>
                      </a:r>
                    </a:p>
                  </a:txBody>
                  <a:tcPr anchor="ctr" marL="109728" marT="36576" marB="36576">
                    <a:solidFill>
                      <a:srgbClr val="F2F5F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5164D"/>
                          </a:solidFill>
                          <a:latin typeface="Arial"/>
                        </a:rPr>
                        <a:t>Secrets in code</a:t>
                      </a:r>
                    </a:p>
                  </a:txBody>
                  <a:tcPr anchor="ctr"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01C22"/>
                          </a:solidFill>
                          <a:latin typeface="Arial"/>
                        </a:rPr>
                        <a:t>Passwords, a database file and debug data committed</a:t>
                      </a:r>
                    </a:p>
                  </a:txBody>
                  <a:tcPr anchor="ctr"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6E2C"/>
                          </a:solidFill>
                          <a:latin typeface="Arial"/>
                        </a:rPr>
                        <a:t>Removed and blocked from returning</a:t>
                      </a:r>
                    </a:p>
                  </a:txBody>
                  <a:tcPr anchor="ctr" marL="10972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29107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D6E71"/>
                </a:solidFill>
                <a:latin typeface="Arial"/>
              </a:rPr>
              <a:t>One item is left for your decision: rotating the old exposed credential and scrubbing it from the repository's history.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51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8BC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BC53D"/>
                </a:solidFill>
                <a:latin typeface="Arial"/>
              </a:rPr>
              <a:t>CONFIDENCE TO CHANGE SAFELY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Testing &amp; quality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88135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9630"/>
                <a:gridCol w="2669012"/>
                <a:gridCol w="5132716"/>
              </a:tblGrid>
              <a:tr h="73152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Measure</a:t>
                      </a:r>
                    </a:p>
                  </a:txBody>
                  <a:tcPr anchor="ctr" marL="109728" marT="45720" marB="45720">
                    <a:solidFill>
                      <a:srgbClr val="051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Before</a:t>
                      </a:r>
                    </a:p>
                  </a:txBody>
                  <a:tcPr anchor="ctr" marL="109728" marT="45720" marB="45720">
                    <a:solidFill>
                      <a:srgbClr val="051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After</a:t>
                      </a:r>
                    </a:p>
                  </a:txBody>
                  <a:tcPr anchor="ctr" marL="109728" marT="45720" marB="45720">
                    <a:solidFill>
                      <a:srgbClr val="05164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5164D"/>
                          </a:solidFill>
                          <a:latin typeface="Arial"/>
                        </a:rPr>
                        <a:t>Automated tests</a:t>
                      </a:r>
                    </a:p>
                  </a:txBody>
                  <a:tcPr anchor="ctr"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01C22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6E2C"/>
                          </a:solidFill>
                          <a:latin typeface="Arial"/>
                        </a:rPr>
                        <a:t>60+ (covering all new code)</a:t>
                      </a:r>
                    </a:p>
                  </a:txBody>
                  <a:tcPr anchor="ctr" marL="109728" marT="36576" marB="36576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5164D"/>
                          </a:solidFill>
                          <a:latin typeface="Arial"/>
                        </a:rPr>
                        <a:t>Test coverage of new code</a:t>
                      </a:r>
                    </a:p>
                  </a:txBody>
                  <a:tcPr anchor="ctr" marL="109728" marT="36576" marB="36576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01C22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anchor="ctr" marL="109728" marT="36576" marB="36576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6E2C"/>
                          </a:solidFill>
                          <a:latin typeface="Arial"/>
                        </a:rPr>
                        <a:t>80-95%</a:t>
                      </a:r>
                    </a:p>
                  </a:txBody>
                  <a:tcPr anchor="ctr" marL="109728" marT="36576" marB="36576"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5164D"/>
                          </a:solidFill>
                          <a:latin typeface="Arial"/>
                        </a:rPr>
                        <a:t>Automatic checks on changes</a:t>
                      </a:r>
                    </a:p>
                  </a:txBody>
                  <a:tcPr anchor="ctr"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01C22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anchor="ctr"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6E2C"/>
                          </a:solidFill>
                          <a:latin typeface="Arial"/>
                        </a:rPr>
                        <a:t>Every change: types, lint, tests, dependency-security audit</a:t>
                      </a:r>
                    </a:p>
                  </a:txBody>
                  <a:tcPr anchor="ctr" marL="109728" marT="36576" marB="36576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5164D"/>
                          </a:solidFill>
                          <a:latin typeface="Arial"/>
                        </a:rPr>
                        <a:t>Type safety</a:t>
                      </a:r>
                    </a:p>
                  </a:txBody>
                  <a:tcPr anchor="ctr" marL="109728" marT="36576" marB="36576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01C22"/>
                          </a:solidFill>
                          <a:latin typeface="Arial"/>
                        </a:rPr>
                        <a:t>0% — everything untyped</a:t>
                      </a:r>
                    </a:p>
                  </a:txBody>
                  <a:tcPr anchor="ctr" marL="109728" marT="36576" marB="36576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6E2C"/>
                          </a:solidFill>
                          <a:latin typeface="Arial"/>
                        </a:rPr>
                        <a:t>100% of new code strictly typed</a:t>
                      </a:r>
                    </a:p>
                  </a:txBody>
                  <a:tcPr anchor="ctr" marL="109728" marT="36576" marB="36576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29107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D6E71"/>
                </a:solidFill>
                <a:latin typeface="Arial"/>
              </a:rPr>
              <a:t>Legacy code is migrated area-by-area; new code meets the bar from day 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51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8BC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BC53D"/>
                </a:solidFill>
                <a:latin typeface="Arial"/>
              </a:rPr>
              <a:t>A BASE WE CAN BUILD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Modernized foundation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25880"/>
          <a:ext cx="1088135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5594"/>
                <a:gridCol w="4372882"/>
                <a:gridCol w="4372882"/>
              </a:tblGrid>
              <a:tr h="82296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anchor="ctr" marL="109728" marT="45720" marB="45720">
                    <a:solidFill>
                      <a:srgbClr val="051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Before</a:t>
                      </a:r>
                    </a:p>
                  </a:txBody>
                  <a:tcPr anchor="ctr" marL="109728" marT="45720" marB="45720">
                    <a:solidFill>
                      <a:srgbClr val="051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After</a:t>
                      </a:r>
                    </a:p>
                  </a:txBody>
                  <a:tcPr anchor="ctr" marL="109728" marT="45720" marB="45720">
                    <a:solidFill>
                      <a:srgbClr val="05164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5164D"/>
                          </a:solidFill>
                          <a:latin typeface="Arial"/>
                        </a:rPr>
                        <a:t>Project structure</a:t>
                      </a:r>
                    </a:p>
                  </a:txBody>
                  <a:tcPr anchor="ctr"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01C22"/>
                          </a:solidFill>
                          <a:latin typeface="Arial"/>
                        </a:rPr>
                        <a:t>Two tangled apps; backend libraries shipped to the browser</a:t>
                      </a:r>
                    </a:p>
                  </a:txBody>
                  <a:tcPr anchor="ctr"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6E2C"/>
                          </a:solidFill>
                          <a:latin typeface="Arial"/>
                        </a:rPr>
                        <a:t>Clean workspace of apps + shared packages; faster cached builds</a:t>
                      </a:r>
                    </a:p>
                  </a:txBody>
                  <a:tcPr anchor="ctr" marL="109728" marT="36576" marB="36576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5164D"/>
                          </a:solidFill>
                          <a:latin typeface="Arial"/>
                        </a:rPr>
                        <a:t>Database access</a:t>
                      </a:r>
                    </a:p>
                  </a:txBody>
                  <a:tcPr anchor="ctr" marL="109728" marT="36576" marB="36576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01C22"/>
                          </a:solidFill>
                          <a:latin typeface="Arial"/>
                        </a:rPr>
                        <a:t>Two competing methods; 76 migration files (19 with duplicate numbers)</a:t>
                      </a:r>
                    </a:p>
                  </a:txBody>
                  <a:tcPr anchor="ctr" marL="109728" marT="36576" marB="36576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6E2C"/>
                          </a:solidFill>
                          <a:latin typeface="Arial"/>
                        </a:rPr>
                        <a:t>One typed database layer</a:t>
                      </a:r>
                    </a:p>
                  </a:txBody>
                  <a:tcPr anchor="ctr" marL="109728" marT="36576" marB="36576">
                    <a:solidFill>
                      <a:srgbClr val="F2F5F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5164D"/>
                          </a:solidFill>
                          <a:latin typeface="Arial"/>
                        </a:rPr>
                        <a:t>Migration safety</a:t>
                      </a:r>
                    </a:p>
                  </a:txBody>
                  <a:tcPr anchor="ctr"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01C22"/>
                          </a:solidFill>
                          <a:latin typeface="Arial"/>
                        </a:rPr>
                        <a:t>All-at-once rewrite risk</a:t>
                      </a:r>
                    </a:p>
                  </a:txBody>
                  <a:tcPr anchor="ctr"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6E2C"/>
                          </a:solidFill>
                          <a:latin typeface="Arial"/>
                        </a:rPr>
                        <a:t>A gateway moves traffic old-to-new one piece at a time, with instant rollback</a:t>
                      </a:r>
                    </a:p>
                  </a:txBody>
                  <a:tcPr anchor="ctr" marL="109728" marT="36576" marB="36576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5164D"/>
                          </a:solidFill>
                          <a:latin typeface="Arial"/>
                        </a:rPr>
                        <a:t>Language</a:t>
                      </a:r>
                    </a:p>
                  </a:txBody>
                  <a:tcPr anchor="ctr" marL="109728" marT="36576" marB="36576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01C22"/>
                          </a:solidFill>
                          <a:latin typeface="Arial"/>
                        </a:rPr>
                        <a:t>100% JavaScript, no checks</a:t>
                      </a:r>
                    </a:p>
                  </a:txBody>
                  <a:tcPr anchor="ctr" marL="109728" marT="36576" marB="36576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6E2C"/>
                          </a:solidFill>
                          <a:latin typeface="Arial"/>
                        </a:rPr>
                        <a:t>TypeScript for all new code</a:t>
                      </a:r>
                    </a:p>
                  </a:txBody>
                  <a:tcPr anchor="ctr" marL="109728" marT="36576" marB="36576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51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8BC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BC53D"/>
                </a:solidFill>
                <a:latin typeface="Arial"/>
              </a:rPr>
              <a:t>REFERENCE FOR THE WHOLE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Authentication rebuilt and proven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•  Rebuilt login, password reset and sessions as the template for how every area will be modernized.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•  Runs alongside the existing system behind a switch — turn on to adopt, turn off to roll back instantly.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•  Verified end-to-end against a real database: 9 of 9 checks passed.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1600">
                <a:solidFill>
                  <a:srgbClr val="6D6E71"/>
                </a:solidFill>
                <a:latin typeface="Arial"/>
              </a:rPr>
              <a:t>—  Login succeeds and issues a valid session; wrong passwords are rejected; password reset is safe; repeated failures are blocked (rate-limited).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•  Security headers and structured logging added along the way.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51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8BC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BC53D"/>
                </a:solidFill>
                <a:latin typeface="Arial"/>
              </a:rPr>
              <a:t>FASTER, RELIABLE FOR 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Developer setup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63040"/>
          <a:ext cx="10881358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5594"/>
                <a:gridCol w="4372882"/>
                <a:gridCol w="4372882"/>
              </a:tblGrid>
              <a:tr h="86868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109728" marT="45720" marB="45720">
                    <a:solidFill>
                      <a:srgbClr val="051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Before</a:t>
                      </a:r>
                    </a:p>
                  </a:txBody>
                  <a:tcPr anchor="ctr" marL="109728" marT="45720" marB="45720">
                    <a:solidFill>
                      <a:srgbClr val="051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After</a:t>
                      </a:r>
                    </a:p>
                  </a:txBody>
                  <a:tcPr anchor="ctr" marL="109728" marT="45720" marB="45720">
                    <a:solidFill>
                      <a:srgbClr val="05164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5164D"/>
                          </a:solidFill>
                          <a:latin typeface="Arial"/>
                        </a:rPr>
                        <a:t>Getting started</a:t>
                      </a:r>
                    </a:p>
                  </a:txBody>
                  <a:tcPr anchor="ctr"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01C22"/>
                          </a:solidFill>
                          <a:latin typeface="Arial"/>
                        </a:rPr>
                        <a:t>"Install the right tools somehow, find a database somewhere"</a:t>
                      </a:r>
                    </a:p>
                  </a:txBody>
                  <a:tcPr anchor="ctr"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6E2C"/>
                          </a:solidFill>
                          <a:latin typeface="Arial"/>
                        </a:rPr>
                        <a:t>One command sets up everything, including a local database</a:t>
                      </a:r>
                    </a:p>
                  </a:txBody>
                  <a:tcPr anchor="ctr" marL="109728" marT="36576" marB="36576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5164D"/>
                          </a:solidFill>
                          <a:latin typeface="Arial"/>
                        </a:rPr>
                        <a:t>Consistency</a:t>
                      </a:r>
                    </a:p>
                  </a:txBody>
                  <a:tcPr anchor="ctr" marL="109728" marT="36576" marB="36576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01C22"/>
                          </a:solidFill>
                          <a:latin typeface="Arial"/>
                        </a:rPr>
                        <a:t>Differs machine to machine</a:t>
                      </a:r>
                    </a:p>
                  </a:txBody>
                  <a:tcPr anchor="ctr" marL="109728" marT="36576" marB="36576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6E2C"/>
                          </a:solidFill>
                          <a:latin typeface="Arial"/>
                        </a:rPr>
                        <a:t>Identical for everyone (versions pinned)</a:t>
                      </a:r>
                    </a:p>
                  </a:txBody>
                  <a:tcPr anchor="ctr" marL="109728" marT="36576" marB="36576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84048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5164D"/>
                </a:solidFill>
                <a:latin typeface="Arial"/>
              </a:rPr>
              <a:t>Why it matters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  <a:latin typeface="Arial"/>
              </a:rPr>
              <a:t>New engineers become productive in minutes instead of a day, and "works on my machine" problems largely go away.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51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8BC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BC53D"/>
                </a:solidFill>
                <a:latin typeface="Arial"/>
              </a:rPr>
              <a:t>CONSISTENCY + SPEED FOR FUTURE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Reusable UI building blocks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•  Before: UI was copied and pasted across very large files — one screen was 5,055 lines.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•  After: 13 shared, tested components (buttons, dialogs, tables, menus and more) that match the current look.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•  Accessibility built in (keyboard and screen-reader support).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>
                <a:solidFill>
                  <a:srgbClr val="1A1A2E"/>
                </a:solidFill>
                <a:latin typeface="Arial"/>
              </a:rPr>
              <a:t>•  Proven by swapping a real dialog in the app with no visible change to users.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51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8BC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BC53D"/>
                </a:solidFill>
                <a:latin typeface="Arial"/>
              </a:rPr>
              <a:t>INDEPENDENT AUDIT -&gt;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Scorecard: before and after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25880"/>
          <a:ext cx="10881359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9662"/>
                <a:gridCol w="1741017"/>
                <a:gridCol w="5440680"/>
              </a:tblGrid>
              <a:tr h="603504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anchor="ctr" marL="109728" marT="45720" marB="45720">
                    <a:solidFill>
                      <a:srgbClr val="051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Before</a:t>
                      </a:r>
                    </a:p>
                  </a:txBody>
                  <a:tcPr anchor="ctr" marL="109728" marT="45720" marB="45720">
                    <a:solidFill>
                      <a:srgbClr val="051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Now</a:t>
                      </a:r>
                    </a:p>
                  </a:txBody>
                  <a:tcPr anchor="ctr" marL="109728" marT="45720" marB="45720">
                    <a:solidFill>
                      <a:srgbClr val="05164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5164D"/>
                          </a:solidFill>
                          <a:latin typeface="Arial"/>
                        </a:rPr>
                        <a:t>Automatic checks (CI/CD)</a:t>
                      </a:r>
                    </a:p>
                  </a:txBody>
                  <a:tcPr anchor="ctr"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01C22"/>
                          </a:solidFill>
                          <a:latin typeface="Arial"/>
                        </a:rPr>
                        <a:t>F</a:t>
                      </a:r>
                    </a:p>
                  </a:txBody>
                  <a:tcPr anchor="ctr"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6E2C"/>
                          </a:solidFill>
                          <a:latin typeface="Arial"/>
                        </a:rPr>
                        <a:t>A — runs on every change</a:t>
                      </a:r>
                    </a:p>
                  </a:txBody>
                  <a:tcPr anchor="ctr" marL="109728" marT="36576" marB="36576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5164D"/>
                          </a:solidFill>
                          <a:latin typeface="Arial"/>
                        </a:rPr>
                        <a:t>Authentication</a:t>
                      </a:r>
                    </a:p>
                  </a:txBody>
                  <a:tcPr anchor="ctr" marL="109728" marT="36576" marB="36576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01C22"/>
                          </a:solidFill>
                          <a:latin typeface="Arial"/>
                        </a:rPr>
                        <a:t>F</a:t>
                      </a:r>
                    </a:p>
                  </a:txBody>
                  <a:tcPr anchor="ctr" marL="109728" marT="36576" marB="36576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6E2C"/>
                          </a:solidFill>
                          <a:latin typeface="Arial"/>
                        </a:rPr>
                        <a:t>B — criticals fixed, staged rollout</a:t>
                      </a:r>
                    </a:p>
                  </a:txBody>
                  <a:tcPr anchor="ctr" marL="109728" marT="36576" marB="36576">
                    <a:solidFill>
                      <a:srgbClr val="F2F5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5164D"/>
                          </a:solidFill>
                          <a:latin typeface="Arial"/>
                        </a:rPr>
                        <a:t>Testing</a:t>
                      </a:r>
                    </a:p>
                  </a:txBody>
                  <a:tcPr anchor="ctr"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01C22"/>
                          </a:solidFill>
                          <a:latin typeface="Arial"/>
                        </a:rPr>
                        <a:t>F</a:t>
                      </a:r>
                    </a:p>
                  </a:txBody>
                  <a:tcPr anchor="ctr"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6E2C"/>
                          </a:solidFill>
                          <a:latin typeface="Arial"/>
                        </a:rPr>
                        <a:t>B — new code gated, legacy pending</a:t>
                      </a:r>
                    </a:p>
                  </a:txBody>
                  <a:tcPr anchor="ctr" marL="109728" marT="36576" marB="36576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5164D"/>
                          </a:solidFill>
                          <a:latin typeface="Arial"/>
                        </a:rPr>
                        <a:t>Type safety</a:t>
                      </a:r>
                    </a:p>
                  </a:txBody>
                  <a:tcPr anchor="ctr" marL="109728" marT="36576" marB="36576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01C22"/>
                          </a:solidFill>
                          <a:latin typeface="Arial"/>
                        </a:rPr>
                        <a:t>F</a:t>
                      </a:r>
                    </a:p>
                  </a:txBody>
                  <a:tcPr anchor="ctr" marL="109728" marT="36576" marB="36576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6E2C"/>
                          </a:solidFill>
                          <a:latin typeface="Arial"/>
                        </a:rPr>
                        <a:t>B — new code fully typed</a:t>
                      </a:r>
                    </a:p>
                  </a:txBody>
                  <a:tcPr anchor="ctr" marL="109728" marT="36576" marB="36576">
                    <a:solidFill>
                      <a:srgbClr val="F2F5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5164D"/>
                          </a:solidFill>
                          <a:latin typeface="Arial"/>
                        </a:rPr>
                        <a:t>Architecture</a:t>
                      </a:r>
                    </a:p>
                  </a:txBody>
                  <a:tcPr anchor="ctr"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01C22"/>
                          </a:solidFill>
                          <a:latin typeface="Arial"/>
                        </a:rPr>
                        <a:t>D</a:t>
                      </a:r>
                    </a:p>
                  </a:txBody>
                  <a:tcPr anchor="ctr"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6E2C"/>
                          </a:solidFill>
                          <a:latin typeface="Arial"/>
                        </a:rPr>
                        <a:t>C+ — foundation in place</a:t>
                      </a:r>
                    </a:p>
                  </a:txBody>
                  <a:tcPr anchor="ctr" marL="109728" marT="36576" marB="36576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5164D"/>
                          </a:solidFill>
                          <a:latin typeface="Arial"/>
                        </a:rPr>
                        <a:t>Secrets management</a:t>
                      </a:r>
                    </a:p>
                  </a:txBody>
                  <a:tcPr anchor="ctr" marL="109728" marT="36576" marB="36576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01C22"/>
                          </a:solidFill>
                          <a:latin typeface="Arial"/>
                        </a:rPr>
                        <a:t>F</a:t>
                      </a:r>
                    </a:p>
                  </a:txBody>
                  <a:tcPr anchor="ctr" marL="109728" marT="36576" marB="36576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76E2C"/>
                          </a:solidFill>
                          <a:latin typeface="Arial"/>
                        </a:rPr>
                        <a:t>C — removed &amp; blocked; history scrub pending</a:t>
                      </a:r>
                    </a:p>
                  </a:txBody>
                  <a:tcPr anchor="ctr" marL="109728" marT="36576" marB="36576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29107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D6E71"/>
                </a:solidFill>
                <a:latin typeface="Arial"/>
              </a:rPr>
              <a:t>"Now" reflects the modernization branch; legacy areas improve as each is migrated.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51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8BC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BC53D"/>
                </a:solidFill>
                <a:latin typeface="Arial"/>
              </a:rPr>
              <a:t>NO RISK TO THE LIVE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Delivered with zero disruption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50">
                <a:solidFill>
                  <a:srgbClr val="1A1A2E"/>
                </a:solidFill>
                <a:latin typeface="Arial"/>
              </a:rPr>
              <a:t>•  All work is on an isolated branch — the live product was never modified.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50">
                <a:solidFill>
                  <a:srgbClr val="1A1A2E"/>
                </a:solidFill>
                <a:latin typeface="Arial"/>
              </a:rPr>
              <a:t>•  Every change is reversible; the new backend sits behind a switch that defaults to the existing system.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50">
                <a:solidFill>
                  <a:srgbClr val="1A1A2E"/>
                </a:solidFill>
                <a:latin typeface="Arial"/>
              </a:rPr>
              <a:t>•  16 commits, fully documented: a plan, decision records, and a running work log.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50">
                <a:solidFill>
                  <a:srgbClr val="1A1A2E"/>
                </a:solidFill>
                <a:latin typeface="Arial"/>
              </a:rPr>
              <a:t>•  No customer-facing change yet — this is the groundwork that makes the next changes fast and safe.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51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8BC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BC53D"/>
                </a:solidFill>
                <a:latin typeface="Arial"/>
              </a:rPr>
              <a:t>THE PLAN FROM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What's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50">
                <a:solidFill>
                  <a:srgbClr val="1A1A2E"/>
                </a:solidFill>
                <a:latin typeface="Arial"/>
              </a:rPr>
              <a:t>•  Turn on the rebuilt login in a staged rollout, then retire the old path.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50">
                <a:solidFill>
                  <a:srgbClr val="1A1A2E"/>
                </a:solidFill>
                <a:latin typeface="Arial"/>
              </a:rPr>
              <a:t>•  Rotate the one remaining exposed credential and scrub it from history (needs your go-ahead).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50">
                <a:solidFill>
                  <a:srgbClr val="1A1A2E"/>
                </a:solidFill>
                <a:latin typeface="Arial"/>
              </a:rPr>
              <a:t>•  Migrate the next areas — companies, documents, reporting — using the same safe, reversible pattern.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50">
                <a:solidFill>
                  <a:srgbClr val="1A1A2E"/>
                </a:solidFill>
                <a:latin typeface="Arial"/>
              </a:rPr>
              <a:t>•  Adopt the shared UI components across more screens.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50">
                <a:solidFill>
                  <a:srgbClr val="1A1A2E"/>
                </a:solidFill>
                <a:latin typeface="Arial"/>
              </a:rPr>
              <a:t>•  Add automated tests to legacy areas as they are touched.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