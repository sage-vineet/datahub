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965960"/>
            <a:ext cx="10515600" cy="914400"/>
          </a:xfrm>
          <a:prstGeom prst="rect">
            <a:avLst/>
          </a:prstGeom>
          <a:noFill/>
        </p:spPr>
        <p:txBody>
          <a:bodyPr wrap="square" lIns="0" rIns="0" tIns="0" bIns="0">
            <a:spAutoFit/>
          </a:bodyPr>
          <a:lstStyle/>
          <a:p>
            <a:pPr algn="l">
              <a:spcBef>
                <a:spcPts val="0"/>
              </a:spcBef>
              <a:spcAft>
                <a:spcPts val="600"/>
              </a:spcAft>
            </a:pPr>
            <a:r>
              <a:rPr sz="4600" b="1">
                <a:solidFill>
                  <a:srgbClr val="FFFFFF"/>
                </a:solidFill>
                <a:latin typeface="Arial"/>
              </a:rPr>
              <a:t>DataHub Modernization</a:t>
            </a:r>
          </a:p>
        </p:txBody>
      </p:sp>
      <p:sp>
        <p:nvSpPr>
          <p:cNvPr id="5" name="TextBox 4"/>
          <p:cNvSpPr txBox="1"/>
          <p:nvPr/>
        </p:nvSpPr>
        <p:spPr>
          <a:xfrm>
            <a:off x="822960" y="2788920"/>
            <a:ext cx="10515600" cy="640080"/>
          </a:xfrm>
          <a:prstGeom prst="rect">
            <a:avLst/>
          </a:prstGeom>
          <a:noFill/>
        </p:spPr>
        <p:txBody>
          <a:bodyPr wrap="square" lIns="0" rIns="0" tIns="0" bIns="0">
            <a:spAutoFit/>
          </a:bodyPr>
          <a:lstStyle/>
          <a:p>
            <a:pPr algn="l">
              <a:spcBef>
                <a:spcPts val="0"/>
              </a:spcBef>
              <a:spcAft>
                <a:spcPts val="600"/>
              </a:spcAft>
            </a:pPr>
            <a:r>
              <a:rPr sz="2200" b="1">
                <a:solidFill>
                  <a:srgbClr val="8BC53D"/>
                </a:solidFill>
                <a:latin typeface="Arial"/>
              </a:rPr>
              <a:t>Progress update — from built to running</a:t>
            </a:r>
          </a:p>
        </p:txBody>
      </p:sp>
      <p:sp>
        <p:nvSpPr>
          <p:cNvPr id="6" name="TextBox 5"/>
          <p:cNvSpPr txBox="1"/>
          <p:nvPr/>
        </p:nvSpPr>
        <p:spPr>
          <a:xfrm>
            <a:off x="822960" y="3520440"/>
            <a:ext cx="10058400" cy="914400"/>
          </a:xfrm>
          <a:prstGeom prst="rect">
            <a:avLst/>
          </a:prstGeom>
          <a:noFill/>
        </p:spPr>
        <p:txBody>
          <a:bodyPr wrap="square" lIns="0" rIns="0" tIns="0" bIns="0">
            <a:spAutoFit/>
          </a:bodyPr>
          <a:lstStyle/>
          <a:p>
            <a:pPr algn="l">
              <a:spcBef>
                <a:spcPts val="0"/>
              </a:spcBef>
              <a:spcAft>
                <a:spcPts val="600"/>
              </a:spcAft>
            </a:pPr>
            <a:r>
              <a:rPr sz="1600" b="0">
                <a:solidFill>
                  <a:srgbClr val="D6E2F5"/>
                </a:solidFill>
                <a:latin typeface="Arial"/>
              </a:rPr>
              <a:t>Phase 2 finished, the parallel stack ran end to end for the first time — and running it caught a cross-tenant data exposure before it reached a customer.</a:t>
            </a:r>
          </a:p>
        </p:txBody>
      </p:sp>
      <p:sp>
        <p:nvSpPr>
          <p:cNvPr id="7" name="TextBox 6"/>
          <p:cNvSpPr txBox="1"/>
          <p:nvPr/>
        </p:nvSpPr>
        <p:spPr>
          <a:xfrm>
            <a:off x="822960" y="5897880"/>
            <a:ext cx="10515600" cy="457200"/>
          </a:xfrm>
          <a:prstGeom prst="rect">
            <a:avLst/>
          </a:prstGeom>
          <a:noFill/>
        </p:spPr>
        <p:txBody>
          <a:bodyPr wrap="square" lIns="0" rIns="0" tIns="0" bIns="0">
            <a:spAutoFit/>
          </a:bodyPr>
          <a:lstStyle/>
          <a:p>
            <a:pPr algn="l">
              <a:spcBef>
                <a:spcPts val="0"/>
              </a:spcBef>
              <a:spcAft>
                <a:spcPts val="600"/>
              </a:spcAft>
            </a:pPr>
            <a:r>
              <a:rPr sz="1300" b="0">
                <a:solidFill>
                  <a:srgbClr val="9AA0C4"/>
                </a:solidFill>
                <a:latin typeface="Arial"/>
              </a:rPr>
              <a:t>22 commits since the last deck   ·   ~17,500 lines   ·   one linear history on ba/rearch   ·   17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WHERE THE LAST DECK LEFT OFF</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3000" b="1">
                <a:solidFill>
                  <a:srgbClr val="FFFFFF"/>
                </a:solidFill>
                <a:latin typeface="Arial"/>
              </a:rPr>
              <a:t>Three domains built. None of them served a request.</a:t>
            </a:r>
          </a:p>
        </p:txBody>
      </p:sp>
      <p:sp>
        <p:nvSpPr>
          <p:cNvPr id="6" name="Rounded Rectangle 5"/>
          <p:cNvSpPr/>
          <p:nvPr/>
        </p:nvSpPr>
        <p:spPr>
          <a:xfrm>
            <a:off x="502920" y="1691640"/>
            <a:ext cx="5394960" cy="315468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291072" y="1691640"/>
            <a:ext cx="5394960" cy="315468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874519"/>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What was in place</a:t>
            </a:r>
          </a:p>
          <a:p>
            <a:pPr algn="l">
              <a:spcBef>
                <a:spcPts val="0"/>
              </a:spcBef>
              <a:spcAft>
                <a:spcPts val="800"/>
              </a:spcAft>
            </a:pPr>
            <a:r>
              <a:rPr sz="1300" b="0">
                <a:solidFill>
                  <a:srgbClr val="9AA0C4"/>
                </a:solidFill>
                <a:latin typeface="Arial"/>
              </a:rPr>
              <a:t>as of the 12 August deck</a:t>
            </a:r>
          </a:p>
        </p:txBody>
      </p:sp>
      <p:sp>
        <p:nvSpPr>
          <p:cNvPr id="9" name="TextBox 8"/>
          <p:cNvSpPr txBox="1"/>
          <p:nvPr/>
        </p:nvSpPr>
        <p:spPr>
          <a:xfrm>
            <a:off x="731520" y="2487168"/>
            <a:ext cx="4937760" cy="365760"/>
          </a:xfrm>
          <a:prstGeom prst="rect">
            <a:avLst/>
          </a:prstGeom>
          <a:noFill/>
        </p:spPr>
        <p:txBody>
          <a:bodyPr wrap="square" lIns="0" rIns="0" tIns="0" bIns="0">
            <a:spAutoFit/>
          </a:bodyPr>
          <a:lstStyle/>
          <a:p>
            <a:pPr algn="l">
              <a:spcBef>
                <a:spcPts val="0"/>
              </a:spcBef>
              <a:spcAft>
                <a:spcPts val="1100"/>
              </a:spcAft>
            </a:pPr>
            <a:r>
              <a:rPr sz="1400" b="1">
                <a:solidFill>
                  <a:srgbClr val="8BC53D"/>
                </a:solidFill>
                <a:latin typeface="Arial"/>
              </a:rPr>
              <a:t>▸  </a:t>
            </a:r>
            <a:r>
              <a:rPr sz="1400" b="1">
                <a:solidFill>
                  <a:srgbClr val="FFFFFF"/>
                </a:solidFill>
                <a:latin typeface="Arial"/>
              </a:rPr>
              <a:t>Better Auth adopted. </a:t>
            </a:r>
            <a:r>
              <a:rPr sz="1400" b="0">
                <a:solidFill>
                  <a:srgbClr val="D6E2F5"/>
                </a:solidFill>
                <a:latin typeface="Arial"/>
              </a:rPr>
              <a:t>ADR-0007; DB-backed sessions, httpOnly cookies.</a:t>
            </a:r>
          </a:p>
          <a:p>
            <a:pPr algn="l">
              <a:spcBef>
                <a:spcPts val="0"/>
              </a:spcBef>
              <a:spcAft>
                <a:spcPts val="1100"/>
              </a:spcAft>
            </a:pPr>
            <a:r>
              <a:rPr sz="1400" b="1">
                <a:solidFill>
                  <a:srgbClr val="8BC53D"/>
                </a:solidFill>
                <a:latin typeface="Arial"/>
              </a:rPr>
              <a:t>▸  </a:t>
            </a:r>
            <a:r>
              <a:rPr sz="1400" b="1">
                <a:solidFill>
                  <a:srgbClr val="FFFFFF"/>
                </a:solidFill>
                <a:latin typeface="Arial"/>
              </a:rPr>
              <a:t>The core trio. </a:t>
            </a:r>
            <a:r>
              <a:rPr sz="1400" b="0">
                <a:solidFill>
                  <a:srgbClr val="D6E2F5"/>
                </a:solidFill>
                <a:latin typeface="Arial"/>
              </a:rPr>
              <a:t>companies · users · folders, each behind an env flag.</a:t>
            </a:r>
          </a:p>
          <a:p>
            <a:pPr algn="l">
              <a:spcBef>
                <a:spcPts val="0"/>
              </a:spcBef>
              <a:spcAft>
                <a:spcPts val="1100"/>
              </a:spcAft>
            </a:pPr>
            <a:r>
              <a:rPr sz="1400" b="1">
                <a:solidFill>
                  <a:srgbClr val="8BC53D"/>
                </a:solidFill>
                <a:latin typeface="Arial"/>
              </a:rPr>
              <a:t>▸  </a:t>
            </a:r>
            <a:r>
              <a:rPr sz="1400" b="1">
                <a:solidFill>
                  <a:srgbClr val="FFFFFF"/>
                </a:solidFill>
                <a:latin typeface="Arial"/>
              </a:rPr>
              <a:t>115 api tests, ~91% coverage. </a:t>
            </a:r>
            <a:r>
              <a:rPr sz="1400" b="0">
                <a:solidFill>
                  <a:srgbClr val="D6E2F5"/>
                </a:solidFill>
                <a:latin typeface="Arial"/>
              </a:rPr>
              <a:t>integration tests against real Postgres.</a:t>
            </a:r>
          </a:p>
          <a:p>
            <a:pPr algn="l">
              <a:spcBef>
                <a:spcPts val="0"/>
              </a:spcBef>
              <a:spcAft>
                <a:spcPts val="1100"/>
              </a:spcAft>
            </a:pPr>
            <a:r>
              <a:rPr sz="1400" b="1">
                <a:solidFill>
                  <a:srgbClr val="8BC53D"/>
                </a:solidFill>
                <a:latin typeface="Arial"/>
              </a:rPr>
              <a:t>▸  </a:t>
            </a:r>
            <a:r>
              <a:rPr sz="1400" b="1">
                <a:solidFill>
                  <a:srgbClr val="FFFFFF"/>
                </a:solidFill>
                <a:latin typeface="Arial"/>
              </a:rPr>
              <a:t>main frozen. </a:t>
            </a:r>
            <a:r>
              <a:rPr sz="1400" b="0">
                <a:solidFill>
                  <a:srgbClr val="D6E2F5"/>
                </a:solidFill>
                <a:latin typeface="Arial"/>
              </a:rPr>
              <a:t>every change lands on the re-architecture branch.</a:t>
            </a:r>
          </a:p>
        </p:txBody>
      </p:sp>
      <p:sp>
        <p:nvSpPr>
          <p:cNvPr id="10" name="TextBox 9"/>
          <p:cNvSpPr txBox="1"/>
          <p:nvPr/>
        </p:nvSpPr>
        <p:spPr>
          <a:xfrm>
            <a:off x="6519672" y="1874519"/>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What that deck said came next</a:t>
            </a:r>
          </a:p>
          <a:p>
            <a:pPr algn="l">
              <a:spcBef>
                <a:spcPts val="0"/>
              </a:spcBef>
              <a:spcAft>
                <a:spcPts val="800"/>
              </a:spcAft>
            </a:pPr>
            <a:r>
              <a:rPr sz="1300" b="0">
                <a:solidFill>
                  <a:srgbClr val="9AA0C4"/>
                </a:solidFill>
                <a:latin typeface="Arial"/>
              </a:rPr>
              <a:t>quoted from its closing slide</a:t>
            </a:r>
          </a:p>
        </p:txBody>
      </p:sp>
      <p:sp>
        <p:nvSpPr>
          <p:cNvPr id="11" name="TextBox 10"/>
          <p:cNvSpPr txBox="1"/>
          <p:nvPr/>
        </p:nvSpPr>
        <p:spPr>
          <a:xfrm>
            <a:off x="6519672" y="2487168"/>
            <a:ext cx="4937760" cy="2377440"/>
          </a:xfrm>
          <a:prstGeom prst="rect">
            <a:avLst/>
          </a:prstGeom>
          <a:noFill/>
        </p:spPr>
        <p:txBody>
          <a:bodyPr wrap="square" lIns="0" rIns="0" tIns="0" bIns="0">
            <a:spAutoFit/>
          </a:bodyPr>
          <a:lstStyle/>
          <a:p>
            <a:pPr algn="l">
              <a:spcBef>
                <a:spcPts val="0"/>
              </a:spcBef>
              <a:spcAft>
                <a:spcPts val="1200"/>
              </a:spcAft>
            </a:pPr>
            <a:r>
              <a:rPr sz="1400" b="0">
                <a:solidFill>
                  <a:srgbClr val="D6E2F5"/>
                </a:solidFill>
                <a:latin typeface="Arial"/>
              </a:rPr>
              <a:t>“Deploy to a real environment and flip the flags … then retire the legacy handlers after a green soak.”</a:t>
            </a:r>
          </a:p>
          <a:p>
            <a:pPr algn="l">
              <a:spcBef>
                <a:spcPts val="0"/>
              </a:spcBef>
              <a:spcAft>
                <a:spcPts val="1400"/>
              </a:spcAft>
            </a:pPr>
            <a:r>
              <a:rPr sz="1400" b="0">
                <a:solidFill>
                  <a:srgbClr val="D6E2F5"/>
                </a:solidFill>
                <a:latin typeface="Arial"/>
              </a:rPr>
              <a:t>“uploads / requests / messages → reports → quickbooks → extraction.”</a:t>
            </a:r>
          </a:p>
          <a:p>
            <a:pPr algn="l">
              <a:spcBef>
                <a:spcPts val="0"/>
              </a:spcBef>
              <a:spcAft>
                <a:spcPts val="600"/>
              </a:spcAft>
            </a:pPr>
            <a:r>
              <a:rPr sz="1400" b="1">
                <a:solidFill>
                  <a:srgbClr val="FFFFFF"/>
                </a:solidFill>
                <a:latin typeface="Arial"/>
              </a:rPr>
              <a:t>Both halves happened. </a:t>
            </a:r>
            <a:r>
              <a:rPr sz="1400" b="0">
                <a:solidFill>
                  <a:srgbClr val="D6E2F5"/>
                </a:solidFill>
                <a:latin typeface="Arial"/>
              </a:rPr>
              <a:t>The domains got built — and the attempt to flip a flag found that the cutover mechanism did not work at 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THE HEADLINE</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3000" b="1">
                <a:solidFill>
                  <a:srgbClr val="FFFFFF"/>
                </a:solidFill>
                <a:latin typeface="Arial"/>
              </a:rPr>
              <a:t>Three things, and the third is why the second mattered</a:t>
            </a:r>
          </a:p>
        </p:txBody>
      </p:sp>
      <p:sp>
        <p:nvSpPr>
          <p:cNvPr id="6" name="Rounded Rectangle 5"/>
          <p:cNvSpPr/>
          <p:nvPr/>
        </p:nvSpPr>
        <p:spPr>
          <a:xfrm>
            <a:off x="502920" y="1691640"/>
            <a:ext cx="3566160" cy="324612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847088"/>
            <a:ext cx="3108960" cy="365760"/>
          </a:xfrm>
          <a:prstGeom prst="rect">
            <a:avLst/>
          </a:prstGeom>
          <a:noFill/>
        </p:spPr>
        <p:txBody>
          <a:bodyPr wrap="square" lIns="0" rIns="0" tIns="0" bIns="0">
            <a:spAutoFit/>
          </a:bodyPr>
          <a:lstStyle/>
          <a:p>
            <a:pPr algn="l">
              <a:spcBef>
                <a:spcPts val="0"/>
              </a:spcBef>
              <a:spcAft>
                <a:spcPts val="200"/>
              </a:spcAft>
            </a:pPr>
            <a:r>
              <a:rPr sz="3000" b="1">
                <a:solidFill>
                  <a:srgbClr val="9BD05A"/>
                </a:solidFill>
                <a:latin typeface="Arial"/>
              </a:rPr>
              <a:t>01</a:t>
            </a:r>
          </a:p>
        </p:txBody>
      </p:sp>
      <p:sp>
        <p:nvSpPr>
          <p:cNvPr id="8" name="TextBox 7"/>
          <p:cNvSpPr txBox="1"/>
          <p:nvPr/>
        </p:nvSpPr>
        <p:spPr>
          <a:xfrm>
            <a:off x="731520" y="2395728"/>
            <a:ext cx="3108960" cy="365760"/>
          </a:xfrm>
          <a:prstGeom prst="rect">
            <a:avLst/>
          </a:prstGeom>
          <a:noFill/>
        </p:spPr>
        <p:txBody>
          <a:bodyPr wrap="square" lIns="0" rIns="0" tIns="0" bIns="0">
            <a:spAutoFit/>
          </a:bodyPr>
          <a:lstStyle/>
          <a:p>
            <a:pPr algn="l">
              <a:spcBef>
                <a:spcPts val="0"/>
              </a:spcBef>
              <a:spcAft>
                <a:spcPts val="600"/>
              </a:spcAft>
            </a:pPr>
            <a:r>
              <a:rPr sz="1600" b="1">
                <a:solidFill>
                  <a:srgbClr val="FFFFFF"/>
                </a:solidFill>
                <a:latin typeface="Arial"/>
              </a:rPr>
              <a:t>Phase 2 build complete</a:t>
            </a:r>
          </a:p>
        </p:txBody>
      </p:sp>
      <p:sp>
        <p:nvSpPr>
          <p:cNvPr id="9" name="TextBox 8"/>
          <p:cNvSpPr txBox="1"/>
          <p:nvPr/>
        </p:nvSpPr>
        <p:spPr>
          <a:xfrm>
            <a:off x="731520" y="2926080"/>
            <a:ext cx="31089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uploads · requests · messages </a:t>
            </a:r>
            <a:r>
              <a:rPr sz="1300" b="0">
                <a:solidFill>
                  <a:srgbClr val="D6E2F5"/>
                </a:solidFill>
                <a:latin typeface="Arial"/>
              </a:rPr>
              <a:t>plus the first reports slice.</a:t>
            </a:r>
          </a:p>
          <a:p>
            <a:pPr algn="l">
              <a:spcBef>
                <a:spcPts val="0"/>
              </a:spcBef>
              <a:spcAft>
                <a:spcPts val="1100"/>
              </a:spcAft>
            </a:pPr>
            <a:r>
              <a:rPr sz="1300" b="1">
                <a:solidFill>
                  <a:srgbClr val="8BC53D"/>
                </a:solidFill>
                <a:latin typeface="Arial"/>
              </a:rPr>
              <a:t>▸  </a:t>
            </a:r>
            <a:r>
              <a:rPr sz="1300" b="1">
                <a:solidFill>
                  <a:srgbClr val="FFFFFF"/>
                </a:solidFill>
                <a:latin typeface="Arial"/>
              </a:rPr>
              <a:t>Eight domains + the gateway. </a:t>
            </a:r>
            <a:r>
              <a:rPr sz="1300" b="0">
                <a:solidFill>
                  <a:srgbClr val="D6E2F5"/>
                </a:solidFill>
                <a:latin typeface="Arial"/>
              </a:rPr>
              <a:t>same blueprint, same flag pattern.</a:t>
            </a:r>
          </a:p>
          <a:p>
            <a:pPr algn="l">
              <a:spcBef>
                <a:spcPts val="0"/>
              </a:spcBef>
              <a:spcAft>
                <a:spcPts val="1100"/>
              </a:spcAft>
            </a:pPr>
            <a:r>
              <a:rPr sz="1300" b="1">
                <a:solidFill>
                  <a:srgbClr val="8BC53D"/>
                </a:solidFill>
                <a:latin typeface="Arial"/>
              </a:rPr>
              <a:t>▸  </a:t>
            </a:r>
            <a:r>
              <a:rPr sz="1300" b="1">
                <a:solidFill>
                  <a:srgbClr val="FFFFFF"/>
                </a:solidFill>
                <a:latin typeface="Arial"/>
              </a:rPr>
              <a:t>115 → 241 api tests. </a:t>
            </a:r>
            <a:r>
              <a:rPr sz="1300" b="0">
                <a:solidFill>
                  <a:srgbClr val="D6E2F5"/>
                </a:solidFill>
                <a:latin typeface="Arial"/>
              </a:rPr>
              <a:t>coverage held above 90% on new code.</a:t>
            </a:r>
          </a:p>
        </p:txBody>
      </p:sp>
      <p:sp>
        <p:nvSpPr>
          <p:cNvPr id="10" name="Rounded Rectangle 9"/>
          <p:cNvSpPr/>
          <p:nvPr/>
        </p:nvSpPr>
        <p:spPr>
          <a:xfrm>
            <a:off x="4251960" y="1691640"/>
            <a:ext cx="3566160" cy="324612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480560" y="1847088"/>
            <a:ext cx="3108960" cy="365760"/>
          </a:xfrm>
          <a:prstGeom prst="rect">
            <a:avLst/>
          </a:prstGeom>
          <a:noFill/>
        </p:spPr>
        <p:txBody>
          <a:bodyPr wrap="square" lIns="0" rIns="0" tIns="0" bIns="0">
            <a:spAutoFit/>
          </a:bodyPr>
          <a:lstStyle/>
          <a:p>
            <a:pPr algn="l">
              <a:spcBef>
                <a:spcPts val="0"/>
              </a:spcBef>
              <a:spcAft>
                <a:spcPts val="200"/>
              </a:spcAft>
            </a:pPr>
            <a:r>
              <a:rPr sz="3000" b="1">
                <a:solidFill>
                  <a:srgbClr val="9BD05A"/>
                </a:solidFill>
                <a:latin typeface="Arial"/>
              </a:rPr>
              <a:t>02</a:t>
            </a:r>
          </a:p>
        </p:txBody>
      </p:sp>
      <p:sp>
        <p:nvSpPr>
          <p:cNvPr id="12" name="TextBox 11"/>
          <p:cNvSpPr txBox="1"/>
          <p:nvPr/>
        </p:nvSpPr>
        <p:spPr>
          <a:xfrm>
            <a:off x="4480560" y="2395728"/>
            <a:ext cx="3108960" cy="365760"/>
          </a:xfrm>
          <a:prstGeom prst="rect">
            <a:avLst/>
          </a:prstGeom>
          <a:noFill/>
        </p:spPr>
        <p:txBody>
          <a:bodyPr wrap="square" lIns="0" rIns="0" tIns="0" bIns="0">
            <a:spAutoFit/>
          </a:bodyPr>
          <a:lstStyle/>
          <a:p>
            <a:pPr algn="l">
              <a:spcBef>
                <a:spcPts val="0"/>
              </a:spcBef>
              <a:spcAft>
                <a:spcPts val="600"/>
              </a:spcAft>
            </a:pPr>
            <a:r>
              <a:rPr sz="1600" b="1">
                <a:solidFill>
                  <a:srgbClr val="FFFFFF"/>
                </a:solidFill>
                <a:latin typeface="Arial"/>
              </a:rPr>
              <a:t>The stack runs end to end</a:t>
            </a:r>
          </a:p>
        </p:txBody>
      </p:sp>
      <p:sp>
        <p:nvSpPr>
          <p:cNvPr id="13" name="TextBox 12"/>
          <p:cNvSpPr txBox="1"/>
          <p:nvPr/>
        </p:nvSpPr>
        <p:spPr>
          <a:xfrm>
            <a:off x="4480560" y="2926080"/>
            <a:ext cx="31089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First working cutover. </a:t>
            </a:r>
            <a:r>
              <a:rPr sz="1300" b="0">
                <a:solidFill>
                  <a:srgbClr val="D6E2F5"/>
                </a:solidFill>
                <a:latin typeface="Arial"/>
              </a:rPr>
              <a:t>a module answered a real request; legacy kept the rest.</a:t>
            </a:r>
          </a:p>
          <a:p>
            <a:pPr algn="l">
              <a:spcBef>
                <a:spcPts val="0"/>
              </a:spcBef>
              <a:spcAft>
                <a:spcPts val="1100"/>
              </a:spcAft>
            </a:pPr>
            <a:r>
              <a:rPr sz="1300" b="1">
                <a:solidFill>
                  <a:srgbClr val="8BC53D"/>
                </a:solidFill>
                <a:latin typeface="Arial"/>
              </a:rPr>
              <a:t>▸  </a:t>
            </a:r>
            <a:r>
              <a:rPr sz="1300" b="1">
                <a:solidFill>
                  <a:srgbClr val="FFFFFF"/>
                </a:solidFill>
                <a:latin typeface="Arial"/>
              </a:rPr>
              <a:t>Getting there exposed five defects </a:t>
            </a:r>
            <a:r>
              <a:rPr sz="1300" b="0">
                <a:solidFill>
                  <a:srgbClr val="D6E2F5"/>
                </a:solidFill>
                <a:latin typeface="Arial"/>
              </a:rPr>
              <a:t>in the cutover mechanism itself.</a:t>
            </a:r>
          </a:p>
          <a:p>
            <a:pPr algn="l">
              <a:spcBef>
                <a:spcPts val="0"/>
              </a:spcBef>
              <a:spcAft>
                <a:spcPts val="1100"/>
              </a:spcAft>
            </a:pPr>
            <a:r>
              <a:rPr sz="1300" b="1">
                <a:solidFill>
                  <a:srgbClr val="8BC53D"/>
                </a:solidFill>
                <a:latin typeface="Arial"/>
              </a:rPr>
              <a:t>▸  </a:t>
            </a:r>
            <a:r>
              <a:rPr sz="1300" b="1">
                <a:solidFill>
                  <a:srgbClr val="FFFFFF"/>
                </a:solidFill>
                <a:latin typeface="Arial"/>
              </a:rPr>
              <a:t>One command brings it up. </a:t>
            </a:r>
            <a:r>
              <a:rPr sz="1300" b="0">
                <a:solidFill>
                  <a:srgbClr val="D6E2F5"/>
                </a:solidFill>
                <a:latin typeface="Arial"/>
              </a:rPr>
              <a:t>SPA → gateway → legacy → Postgres, seeded.</a:t>
            </a:r>
          </a:p>
        </p:txBody>
      </p:sp>
      <p:sp>
        <p:nvSpPr>
          <p:cNvPr id="14" name="Rounded Rectangle 13"/>
          <p:cNvSpPr/>
          <p:nvPr/>
        </p:nvSpPr>
        <p:spPr>
          <a:xfrm>
            <a:off x="8001000" y="1691640"/>
            <a:ext cx="3566160" cy="324612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0" y="1847088"/>
            <a:ext cx="3108960" cy="365760"/>
          </a:xfrm>
          <a:prstGeom prst="rect">
            <a:avLst/>
          </a:prstGeom>
          <a:noFill/>
        </p:spPr>
        <p:txBody>
          <a:bodyPr wrap="square" lIns="0" rIns="0" tIns="0" bIns="0">
            <a:spAutoFit/>
          </a:bodyPr>
          <a:lstStyle/>
          <a:p>
            <a:pPr algn="l">
              <a:spcBef>
                <a:spcPts val="0"/>
              </a:spcBef>
              <a:spcAft>
                <a:spcPts val="200"/>
              </a:spcAft>
            </a:pPr>
            <a:r>
              <a:rPr sz="3000" b="1">
                <a:solidFill>
                  <a:srgbClr val="9BD05A"/>
                </a:solidFill>
                <a:latin typeface="Arial"/>
              </a:rPr>
              <a:t>03</a:t>
            </a:r>
          </a:p>
        </p:txBody>
      </p:sp>
      <p:sp>
        <p:nvSpPr>
          <p:cNvPr id="16" name="TextBox 15"/>
          <p:cNvSpPr txBox="1"/>
          <p:nvPr/>
        </p:nvSpPr>
        <p:spPr>
          <a:xfrm>
            <a:off x="8229600" y="2395728"/>
            <a:ext cx="3108960" cy="365760"/>
          </a:xfrm>
          <a:prstGeom prst="rect">
            <a:avLst/>
          </a:prstGeom>
          <a:noFill/>
        </p:spPr>
        <p:txBody>
          <a:bodyPr wrap="square" lIns="0" rIns="0" tIns="0" bIns="0">
            <a:spAutoFit/>
          </a:bodyPr>
          <a:lstStyle/>
          <a:p>
            <a:pPr algn="l">
              <a:spcBef>
                <a:spcPts val="0"/>
              </a:spcBef>
              <a:spcAft>
                <a:spcPts val="600"/>
              </a:spcAft>
            </a:pPr>
            <a:r>
              <a:rPr sz="1600" b="1">
                <a:solidFill>
                  <a:srgbClr val="FFFFFF"/>
                </a:solidFill>
                <a:latin typeface="Arial"/>
              </a:rPr>
              <a:t>Running it found real bugs</a:t>
            </a:r>
          </a:p>
        </p:txBody>
      </p:sp>
      <p:sp>
        <p:nvSpPr>
          <p:cNvPr id="17" name="TextBox 16"/>
          <p:cNvSpPr txBox="1"/>
          <p:nvPr/>
        </p:nvSpPr>
        <p:spPr>
          <a:xfrm>
            <a:off x="8229600" y="2926080"/>
            <a:ext cx="31089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Brokers could read every tenant. </a:t>
            </a:r>
            <a:r>
              <a:rPr sz="1300" b="0">
                <a:solidFill>
                  <a:srgbClr val="D6E2F5"/>
                </a:solidFill>
                <a:latin typeface="Arial"/>
              </a:rPr>
              <a:t>would have shipped at the first flip.</a:t>
            </a:r>
          </a:p>
          <a:p>
            <a:pPr algn="l">
              <a:spcBef>
                <a:spcPts val="0"/>
              </a:spcBef>
              <a:spcAft>
                <a:spcPts val="1100"/>
              </a:spcAft>
            </a:pPr>
            <a:r>
              <a:rPr sz="1300" b="1">
                <a:solidFill>
                  <a:srgbClr val="8BC53D"/>
                </a:solidFill>
                <a:latin typeface="Arial"/>
              </a:rPr>
              <a:t>▸  </a:t>
            </a:r>
            <a:r>
              <a:rPr sz="1300" b="1">
                <a:solidFill>
                  <a:srgbClr val="FFFFFF"/>
                </a:solidFill>
                <a:latin typeface="Arial"/>
              </a:rPr>
              <a:t>Two silent parity defects. </a:t>
            </a:r>
            <a:r>
              <a:rPr sz="1300" b="0">
                <a:solidFill>
                  <a:srgbClr val="D6E2F5"/>
                </a:solidFill>
                <a:latin typeface="Arial"/>
              </a:rPr>
              <a:t>a filter ignored; a column name divergence.</a:t>
            </a:r>
          </a:p>
          <a:p>
            <a:pPr algn="l">
              <a:spcBef>
                <a:spcPts val="0"/>
              </a:spcBef>
              <a:spcAft>
                <a:spcPts val="1100"/>
              </a:spcAft>
            </a:pPr>
            <a:r>
              <a:rPr sz="1300" b="1">
                <a:solidFill>
                  <a:srgbClr val="8BC53D"/>
                </a:solidFill>
                <a:latin typeface="Arial"/>
              </a:rPr>
              <a:t>▸  </a:t>
            </a:r>
            <a:r>
              <a:rPr sz="1300" b="1">
                <a:solidFill>
                  <a:srgbClr val="FFFFFF"/>
                </a:solidFill>
                <a:latin typeface="Arial"/>
              </a:rPr>
              <a:t>None were findable by more unit tests. </a:t>
            </a:r>
            <a:r>
              <a:rPr sz="1300" b="0">
                <a:solidFill>
                  <a:srgbClr val="D6E2F5"/>
                </a:solidFill>
                <a:latin typeface="Arial"/>
              </a:rPr>
              <a:t>they needed a running stack.</a:t>
            </a:r>
          </a:p>
        </p:txBody>
      </p:sp>
      <p:sp>
        <p:nvSpPr>
          <p:cNvPr id="18" name="TextBox 17"/>
          <p:cNvSpPr txBox="1"/>
          <p:nvPr/>
        </p:nvSpPr>
        <p:spPr>
          <a:xfrm>
            <a:off x="502920" y="5257800"/>
            <a:ext cx="11155680" cy="548640"/>
          </a:xfrm>
          <a:prstGeom prst="rect">
            <a:avLst/>
          </a:prstGeom>
          <a:noFill/>
        </p:spPr>
        <p:txBody>
          <a:bodyPr wrap="square" lIns="0" rIns="0" tIns="0" bIns="0">
            <a:spAutoFit/>
          </a:bodyPr>
          <a:lstStyle/>
          <a:p>
            <a:pPr algn="l">
              <a:spcBef>
                <a:spcPts val="0"/>
              </a:spcBef>
              <a:spcAft>
                <a:spcPts val="600"/>
              </a:spcAft>
            </a:pPr>
            <a:r>
              <a:rPr sz="1300" b="1">
                <a:solidFill>
                  <a:srgbClr val="FFFFFF"/>
                </a:solidFill>
                <a:latin typeface="Arial"/>
              </a:rPr>
              <a:t>And a fourth, off to the side: </a:t>
            </a:r>
            <a:r>
              <a:rPr sz="1300" b="0">
                <a:solidFill>
                  <a:srgbClr val="D6E2F5"/>
                </a:solidFill>
                <a:latin typeface="Arial"/>
              </a:rPr>
              <a:t>the whole product was mapped for the first time — 93 features, 21 capabilities, one acyclic dependency graph — and it changed the order we should be cutting domains over 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PHASE 2 · COMPLETE</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3000" b="1">
                <a:solidFill>
                  <a:srgbClr val="FFFFFF"/>
                </a:solidFill>
                <a:latin typeface="Arial"/>
              </a:rPr>
              <a:t>Four more domains, ported at parity behind the gateway</a:t>
            </a:r>
          </a:p>
        </p:txBody>
      </p:sp>
      <p:sp>
        <p:nvSpPr>
          <p:cNvPr id="6" name="Rounded Rectangle 5"/>
          <p:cNvSpPr/>
          <p:nvPr/>
        </p:nvSpPr>
        <p:spPr>
          <a:xfrm>
            <a:off x="502920" y="1691640"/>
            <a:ext cx="2651760" cy="306324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874519"/>
            <a:ext cx="21945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uploads</a:t>
            </a:r>
          </a:p>
          <a:p>
            <a:pPr algn="l">
              <a:spcBef>
                <a:spcPts val="0"/>
              </a:spcBef>
              <a:spcAft>
                <a:spcPts val="800"/>
              </a:spcAft>
            </a:pPr>
            <a:r>
              <a:rPr sz="1300" b="0">
                <a:solidFill>
                  <a:srgbClr val="9AA0C4"/>
                </a:solidFill>
                <a:latin typeface="Arial"/>
              </a:rPr>
              <a:t>files + documents</a:t>
            </a:r>
          </a:p>
        </p:txBody>
      </p:sp>
      <p:sp>
        <p:nvSpPr>
          <p:cNvPr id="8" name="TextBox 7"/>
          <p:cNvSpPr txBox="1"/>
          <p:nvPr/>
        </p:nvSpPr>
        <p:spPr>
          <a:xfrm>
            <a:off x="731520" y="2514600"/>
            <a:ext cx="21945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Blobs in Postgres bytea </a:t>
            </a:r>
            <a:r>
              <a:rPr sz="1300" b="0">
                <a:solidFill>
                  <a:srgbClr val="D6E2F5"/>
                </a:solidFill>
                <a:latin typeface="Arial"/>
              </a:rPr>
              <a:t>behind a StoragePort — S3 swaps in later.</a:t>
            </a:r>
          </a:p>
          <a:p>
            <a:pPr algn="l">
              <a:spcBef>
                <a:spcPts val="0"/>
              </a:spcBef>
              <a:spcAft>
                <a:spcPts val="1100"/>
              </a:spcAft>
            </a:pPr>
            <a:r>
              <a:rPr sz="1300" b="1">
                <a:solidFill>
                  <a:srgbClr val="8BC53D"/>
                </a:solidFill>
                <a:latin typeface="Arial"/>
              </a:rPr>
              <a:t>▸  </a:t>
            </a:r>
            <a:r>
              <a:rPr sz="1300" b="1">
                <a:solidFill>
                  <a:srgbClr val="FFFFFF"/>
                </a:solidFill>
                <a:latin typeface="Arial"/>
              </a:rPr>
              <a:t>Documents under folders, </a:t>
            </a:r>
            <a:r>
              <a:rPr sz="1300" b="0">
                <a:solidFill>
                  <a:srgbClr val="D6E2F5"/>
                </a:solidFill>
                <a:latin typeface="Arial"/>
              </a:rPr>
              <a:t>tenant-guarded via the folder's company.</a:t>
            </a:r>
          </a:p>
          <a:p>
            <a:pPr algn="l">
              <a:spcBef>
                <a:spcPts val="0"/>
              </a:spcBef>
              <a:spcAft>
                <a:spcPts val="1100"/>
              </a:spcAft>
            </a:pPr>
            <a:r>
              <a:rPr sz="1300" b="1">
                <a:solidFill>
                  <a:srgbClr val="8BC53D"/>
                </a:solidFill>
                <a:latin typeface="Arial"/>
              </a:rPr>
              <a:t>▸  </a:t>
            </a:r>
            <a:r>
              <a:rPr sz="1300" b="1">
                <a:solidFill>
                  <a:srgbClr val="FFFFFF"/>
                </a:solidFill>
                <a:latin typeface="Arial"/>
              </a:rPr>
              <a:t>Append-only document activity. </a:t>
            </a:r>
          </a:p>
        </p:txBody>
      </p:sp>
      <p:sp>
        <p:nvSpPr>
          <p:cNvPr id="9" name="Rounded Rectangle 8"/>
          <p:cNvSpPr/>
          <p:nvPr/>
        </p:nvSpPr>
        <p:spPr>
          <a:xfrm>
            <a:off x="3337560" y="1691640"/>
            <a:ext cx="2651760" cy="306324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66160" y="1874519"/>
            <a:ext cx="21945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requests</a:t>
            </a:r>
          </a:p>
          <a:p>
            <a:pPr algn="l">
              <a:spcBef>
                <a:spcPts val="0"/>
              </a:spcBef>
              <a:spcAft>
                <a:spcPts val="800"/>
              </a:spcAft>
            </a:pPr>
            <a:r>
              <a:rPr sz="1300" b="0">
                <a:solidFill>
                  <a:srgbClr val="9AA0C4"/>
                </a:solidFill>
                <a:latin typeface="Arial"/>
              </a:rPr>
              <a:t>broker ↔ client work</a:t>
            </a:r>
          </a:p>
        </p:txBody>
      </p:sp>
      <p:sp>
        <p:nvSpPr>
          <p:cNvPr id="11" name="TextBox 10"/>
          <p:cNvSpPr txBox="1"/>
          <p:nvPr/>
        </p:nvSpPr>
        <p:spPr>
          <a:xfrm>
            <a:off x="3566160" y="2514600"/>
            <a:ext cx="21945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Priority drives reminder cadence </a:t>
            </a:r>
            <a:r>
              <a:rPr sz="1300" b="0">
                <a:solidFill>
                  <a:srgbClr val="D6E2F5"/>
                </a:solidFill>
                <a:latin typeface="Arial"/>
              </a:rPr>
              <a:t>— critical/high 1d, medium 2d, low 7d.</a:t>
            </a:r>
          </a:p>
          <a:p>
            <a:pPr algn="l">
              <a:spcBef>
                <a:spcPts val="0"/>
              </a:spcBef>
              <a:spcAft>
                <a:spcPts val="1100"/>
              </a:spcAft>
            </a:pPr>
            <a:r>
              <a:rPr sz="1300" b="1">
                <a:solidFill>
                  <a:srgbClr val="8BC53D"/>
                </a:solidFill>
                <a:latin typeface="Arial"/>
              </a:rPr>
              <a:t>▸  </a:t>
            </a:r>
            <a:r>
              <a:rPr sz="1300" b="1">
                <a:solidFill>
                  <a:srgbClr val="FFFFFF"/>
                </a:solidFill>
                <a:latin typeface="Arial"/>
              </a:rPr>
              <a:t>Transactional bulk create. </a:t>
            </a:r>
          </a:p>
          <a:p>
            <a:pPr algn="l">
              <a:spcBef>
                <a:spcPts val="0"/>
              </a:spcBef>
              <a:spcAft>
                <a:spcPts val="1100"/>
              </a:spcAft>
            </a:pPr>
            <a:r>
              <a:rPr sz="1300" b="1">
                <a:solidFill>
                  <a:srgbClr val="8BC53D"/>
                </a:solidFill>
                <a:latin typeface="Arial"/>
              </a:rPr>
              <a:t>▸  </a:t>
            </a:r>
            <a:r>
              <a:rPr sz="1300" b="1">
                <a:solidFill>
                  <a:srgbClr val="FFFFFF"/>
                </a:solidFill>
                <a:latin typeface="Arial"/>
              </a:rPr>
              <a:t>Approval, narrative upsert, doc links. </a:t>
            </a:r>
          </a:p>
        </p:txBody>
      </p:sp>
      <p:sp>
        <p:nvSpPr>
          <p:cNvPr id="12" name="Rounded Rectangle 11"/>
          <p:cNvSpPr/>
          <p:nvPr/>
        </p:nvSpPr>
        <p:spPr>
          <a:xfrm>
            <a:off x="6172200" y="1691640"/>
            <a:ext cx="2651760" cy="306324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0" y="1874519"/>
            <a:ext cx="21945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messages</a:t>
            </a:r>
          </a:p>
          <a:p>
            <a:pPr algn="l">
              <a:spcBef>
                <a:spcPts val="0"/>
              </a:spcBef>
              <a:spcAft>
                <a:spcPts val="800"/>
              </a:spcAft>
            </a:pPr>
            <a:r>
              <a:rPr sz="1300" b="0">
                <a:solidFill>
                  <a:srgbClr val="9AA0C4"/>
                </a:solidFill>
                <a:latin typeface="Arial"/>
              </a:rPr>
              <a:t>in-app comms</a:t>
            </a:r>
          </a:p>
        </p:txBody>
      </p:sp>
      <p:sp>
        <p:nvSpPr>
          <p:cNvPr id="14" name="TextBox 13"/>
          <p:cNvSpPr txBox="1"/>
          <p:nvPr/>
        </p:nvSpPr>
        <p:spPr>
          <a:xfrm>
            <a:off x="6400800" y="2514600"/>
            <a:ext cx="21945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Company, 1:1 and group threads. </a:t>
            </a:r>
          </a:p>
          <a:p>
            <a:pPr algn="l">
              <a:spcBef>
                <a:spcPts val="0"/>
              </a:spcBef>
              <a:spcAft>
                <a:spcPts val="1100"/>
              </a:spcAft>
            </a:pPr>
            <a:r>
              <a:rPr sz="1300" b="1">
                <a:solidFill>
                  <a:srgbClr val="8BC53D"/>
                </a:solidFill>
                <a:latin typeface="Arial"/>
              </a:rPr>
              <a:t>▸  </a:t>
            </a:r>
            <a:r>
              <a:rPr sz="1300" b="1">
                <a:solidFill>
                  <a:srgbClr val="FFFFFF"/>
                </a:solidFill>
                <a:latin typeface="Arial"/>
              </a:rPr>
              <a:t>Member-only posting </a:t>
            </a:r>
            <a:r>
              <a:rPr sz="1300" b="0">
                <a:solidFill>
                  <a:srgbClr val="D6E2F5"/>
                </a:solidFill>
                <a:latin typeface="Arial"/>
              </a:rPr>
              <a:t>— or a broker/admin on the group's company.</a:t>
            </a:r>
          </a:p>
          <a:p>
            <a:pPr algn="l">
              <a:spcBef>
                <a:spcPts val="0"/>
              </a:spcBef>
              <a:spcAft>
                <a:spcPts val="1100"/>
              </a:spcAft>
            </a:pPr>
            <a:r>
              <a:rPr sz="1300" b="1">
                <a:solidFill>
                  <a:srgbClr val="8BC53D"/>
                </a:solidFill>
                <a:latin typeface="Arial"/>
              </a:rPr>
              <a:t>▸  </a:t>
            </a:r>
            <a:r>
              <a:rPr sz="1300" b="1">
                <a:solidFill>
                  <a:srgbClr val="FFFFFF"/>
                </a:solidFill>
                <a:latin typeface="Arial"/>
              </a:rPr>
              <a:t>Unread via a read watermark. </a:t>
            </a:r>
          </a:p>
        </p:txBody>
      </p:sp>
      <p:sp>
        <p:nvSpPr>
          <p:cNvPr id="15" name="Rounded Rectangle 14"/>
          <p:cNvSpPr/>
          <p:nvPr/>
        </p:nvSpPr>
        <p:spPr>
          <a:xfrm>
            <a:off x="9006840" y="1691640"/>
            <a:ext cx="2651760" cy="306324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35440" y="1874519"/>
            <a:ext cx="21945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reports</a:t>
            </a:r>
          </a:p>
          <a:p>
            <a:pPr algn="l">
              <a:spcBef>
                <a:spcPts val="0"/>
              </a:spcBef>
              <a:spcAft>
                <a:spcPts val="800"/>
              </a:spcAft>
            </a:pPr>
            <a:r>
              <a:rPr sz="1300" b="0">
                <a:solidFill>
                  <a:srgbClr val="9AA0C4"/>
                </a:solidFill>
                <a:latin typeface="Arial"/>
              </a:rPr>
              <a:t>first decomposition slice</a:t>
            </a:r>
          </a:p>
        </p:txBody>
      </p:sp>
      <p:sp>
        <p:nvSpPr>
          <p:cNvPr id="17" name="TextBox 16"/>
          <p:cNvSpPr txBox="1"/>
          <p:nvPr/>
        </p:nvSpPr>
        <p:spPr>
          <a:xfrm>
            <a:off x="9235440" y="2514600"/>
            <a:ext cx="21945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Key-report version lifecycle </a:t>
            </a:r>
            <a:r>
              <a:rPr sz="1300" b="0">
                <a:solidFill>
                  <a:srgbClr val="D6E2F5"/>
                </a:solidFill>
                <a:latin typeface="Arial"/>
              </a:rPr>
              <a:t>— the backbone entity.</a:t>
            </a:r>
          </a:p>
          <a:p>
            <a:pPr algn="l">
              <a:spcBef>
                <a:spcPts val="0"/>
              </a:spcBef>
              <a:spcAft>
                <a:spcPts val="1100"/>
              </a:spcAft>
            </a:pPr>
            <a:r>
              <a:rPr sz="1300" b="1">
                <a:solidFill>
                  <a:srgbClr val="8BC53D"/>
                </a:solidFill>
                <a:latin typeface="Arial"/>
              </a:rPr>
              <a:t>▸  </a:t>
            </a:r>
            <a:r>
              <a:rPr sz="1300" b="1">
                <a:solidFill>
                  <a:srgbClr val="FFFFFF"/>
                </a:solidFill>
                <a:latin typeface="Arial"/>
              </a:rPr>
              <a:t>One official version per company, </a:t>
            </a:r>
            <a:r>
              <a:rPr sz="1300" b="0">
                <a:solidFill>
                  <a:srgbClr val="D6E2F5"/>
                </a:solidFill>
                <a:latin typeface="Arial"/>
              </a:rPr>
              <a:t>held by a transactional invariant.</a:t>
            </a:r>
          </a:p>
          <a:p>
            <a:pPr algn="l">
              <a:spcBef>
                <a:spcPts val="0"/>
              </a:spcBef>
              <a:spcAft>
                <a:spcPts val="1100"/>
              </a:spcAft>
            </a:pPr>
            <a:r>
              <a:rPr sz="1300" b="1">
                <a:solidFill>
                  <a:srgbClr val="8BC53D"/>
                </a:solidFill>
                <a:latin typeface="Arial"/>
              </a:rPr>
              <a:t>▸  </a:t>
            </a:r>
            <a:r>
              <a:rPr sz="1300" b="1">
                <a:solidFill>
                  <a:srgbClr val="FFFFFF"/>
                </a:solidFill>
                <a:latin typeface="Arial"/>
              </a:rPr>
              <a:t>The 9,088-line GL engine stays on legacy </a:t>
            </a:r>
            <a:r>
              <a:rPr sz="1300" b="0">
                <a:solidFill>
                  <a:srgbClr val="D6E2F5"/>
                </a:solidFill>
                <a:latin typeface="Arial"/>
              </a:rPr>
              <a:t>behind a port that returns 501.</a:t>
            </a:r>
          </a:p>
        </p:txBody>
      </p:sp>
      <p:sp>
        <p:nvSpPr>
          <p:cNvPr id="18" name="TextBox 17"/>
          <p:cNvSpPr txBox="1"/>
          <p:nvPr/>
        </p:nvSpPr>
        <p:spPr>
          <a:xfrm>
            <a:off x="502920" y="5074920"/>
            <a:ext cx="11155680" cy="731520"/>
          </a:xfrm>
          <a:prstGeom prst="rect">
            <a:avLst/>
          </a:prstGeom>
          <a:noFill/>
        </p:spPr>
        <p:txBody>
          <a:bodyPr wrap="square" lIns="0" rIns="0" tIns="0" bIns="0">
            <a:spAutoFit/>
          </a:bodyPr>
          <a:lstStyle/>
          <a:p>
            <a:pPr algn="l">
              <a:spcBef>
                <a:spcPts val="0"/>
              </a:spcBef>
              <a:spcAft>
                <a:spcPts val="600"/>
              </a:spcAft>
            </a:pPr>
            <a:r>
              <a:rPr sz="1300" b="0">
                <a:solidFill>
                  <a:srgbClr val="D6E2F5"/>
                </a:solidFill>
                <a:latin typeface="Arial"/>
              </a:rPr>
              <a:t>Every domain mounts behind </a:t>
            </a:r>
            <a:r>
              <a:rPr sz="1300" b="0">
                <a:solidFill>
                  <a:srgbClr val="8BC53D"/>
                </a:solidFill>
                <a:latin typeface="Consolas"/>
              </a:rPr>
              <a:t>&lt;DOMAIN&gt;_MODULE_ENABLED</a:t>
            </a:r>
            <a:r>
              <a:rPr sz="1300" b="0">
                <a:solidFill>
                  <a:srgbClr val="D6E2F5"/>
                </a:solidFill>
                <a:latin typeface="Arial"/>
              </a:rPr>
              <a:t> — off falls through to legacy, so each is reversible in one environment variable. </a:t>
            </a:r>
            <a:r>
              <a:rPr sz="1300" b="0">
                <a:solidFill>
                  <a:srgbClr val="8BC53D"/>
                </a:solidFill>
                <a:latin typeface="Consolas"/>
              </a:rPr>
              <a:t>reports</a:t>
            </a:r>
            <a:r>
              <a:rPr sz="1300" b="0">
                <a:solidFill>
                  <a:srgbClr val="D6E2F5"/>
                </a:solidFill>
                <a:latin typeface="Arial"/>
              </a:rPr>
              <a:t> is deliberately a slice, not a domain: the safe way to dismantle a 9k-line service is one seam at a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FROM BUILT TO RUNNING</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2700" b="1">
                <a:solidFill>
                  <a:srgbClr val="FFFFFF"/>
                </a:solidFill>
                <a:latin typeface="Arial"/>
              </a:rPr>
              <a:t>Nine domains built. The flag that turned them on was a no-op.</a:t>
            </a:r>
          </a:p>
        </p:txBody>
      </p:sp>
      <p:sp>
        <p:nvSpPr>
          <p:cNvPr id="6" name="Rounded Rectangle 5"/>
          <p:cNvSpPr/>
          <p:nvPr/>
        </p:nvSpPr>
        <p:spPr>
          <a:xfrm>
            <a:off x="502920" y="1627632"/>
            <a:ext cx="5394960" cy="388620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291072" y="1627632"/>
            <a:ext cx="5394960" cy="3886200"/>
          </a:xfrm>
          <a:prstGeom prst="roundRect">
            <a:avLst>
              <a:gd name="adj" fmla="val 6000"/>
            </a:avLst>
          </a:prstGeom>
          <a:solidFill>
            <a:srgbClr val="242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810512"/>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What the first real attempt found</a:t>
            </a:r>
          </a:p>
          <a:p>
            <a:pPr algn="l">
              <a:spcBef>
                <a:spcPts val="0"/>
              </a:spcBef>
              <a:spcAft>
                <a:spcPts val="800"/>
              </a:spcAft>
            </a:pPr>
            <a:r>
              <a:rPr sz="1300" b="0">
                <a:solidFill>
                  <a:srgbClr val="9AA0C4"/>
                </a:solidFill>
                <a:latin typeface="Arial"/>
              </a:rPr>
              <a:t>none of this was visible from the test suite</a:t>
            </a:r>
          </a:p>
        </p:txBody>
      </p:sp>
      <p:sp>
        <p:nvSpPr>
          <p:cNvPr id="9" name="TextBox 8"/>
          <p:cNvSpPr txBox="1"/>
          <p:nvPr/>
        </p:nvSpPr>
        <p:spPr>
          <a:xfrm>
            <a:off x="731520" y="2395728"/>
            <a:ext cx="4937760" cy="365760"/>
          </a:xfrm>
          <a:prstGeom prst="rect">
            <a:avLst/>
          </a:prstGeom>
          <a:noFill/>
        </p:spPr>
        <p:txBody>
          <a:bodyPr wrap="square" lIns="0" rIns="0" tIns="0" bIns="0">
            <a:spAutoFit/>
          </a:bodyPr>
          <a:lstStyle/>
          <a:p>
            <a:pPr algn="l">
              <a:spcBef>
                <a:spcPts val="0"/>
              </a:spcBef>
              <a:spcAft>
                <a:spcPts val="1000"/>
              </a:spcAft>
            </a:pPr>
            <a:r>
              <a:rPr sz="1300" b="1">
                <a:solidFill>
                  <a:srgbClr val="8BC53D"/>
                </a:solidFill>
                <a:latin typeface="Arial"/>
              </a:rPr>
              <a:t>▸  </a:t>
            </a:r>
            <a:r>
              <a:rPr sz="1300" b="1">
                <a:solidFill>
                  <a:srgbClr val="FFFFFF"/>
                </a:solidFill>
                <a:latin typeface="Arial"/>
              </a:rPr>
              <a:t>All 69 module routes were unreachable. </a:t>
            </a:r>
            <a:r>
              <a:rPr sz="1300" b="0">
                <a:solidFill>
                  <a:srgbClr val="D6E2F5"/>
                </a:solidFill>
                <a:latin typeface="Arial"/>
              </a:rPr>
              <a:t>Modules sat under /api/*; the SPA calls /auth/login and /companies. Flipping any flag changed nothing.</a:t>
            </a:r>
          </a:p>
          <a:p>
            <a:pPr algn="l">
              <a:spcBef>
                <a:spcPts val="0"/>
              </a:spcBef>
              <a:spcAft>
                <a:spcPts val="1000"/>
              </a:spcAft>
            </a:pPr>
            <a:r>
              <a:rPr sz="1300" b="1">
                <a:solidFill>
                  <a:srgbClr val="8BC53D"/>
                </a:solidFill>
                <a:latin typeface="Arial"/>
              </a:rPr>
              <a:t>▸  </a:t>
            </a:r>
            <a:r>
              <a:rPr sz="1300" b="1">
                <a:solidFill>
                  <a:srgbClr val="FFFFFF"/>
                </a:solidFill>
                <a:latin typeface="Arial"/>
              </a:rPr>
              <a:t>/api/auth/* is QuickBooks, not our auth. </a:t>
            </a:r>
            <a:r>
              <a:rPr sz="1300" b="0">
                <a:solidFill>
                  <a:srgbClr val="D6E2F5"/>
                </a:solidFill>
                <a:latin typeface="Arial"/>
              </a:rPr>
              <a:t>Mounting there also 401'd the OAuth routes and consumed their request bodies.</a:t>
            </a:r>
          </a:p>
          <a:p>
            <a:pPr algn="l">
              <a:spcBef>
                <a:spcPts val="0"/>
              </a:spcBef>
              <a:spcAft>
                <a:spcPts val="1000"/>
              </a:spcAft>
            </a:pPr>
            <a:r>
              <a:rPr sz="1300" b="1">
                <a:solidFill>
                  <a:srgbClr val="8BC53D"/>
                </a:solidFill>
                <a:latin typeface="Arial"/>
              </a:rPr>
              <a:t>▸  </a:t>
            </a:r>
            <a:r>
              <a:rPr sz="1300" b="1">
                <a:solidFill>
                  <a:srgbClr val="FFFFFF"/>
                </a:solidFill>
                <a:latin typeface="Arial"/>
              </a:rPr>
              <a:t>There was no runnable build. </a:t>
            </a:r>
            <a:r>
              <a:rPr sz="1300" b="0">
                <a:solidFill>
                  <a:srgbClr val="D6E2F5"/>
                </a:solidFill>
                <a:latin typeface="Arial"/>
              </a:rPr>
              <a:t>node dist/server.js died resolving TypeScript source — the program had never produced a running artifact.</a:t>
            </a:r>
          </a:p>
          <a:p>
            <a:pPr algn="l">
              <a:spcBef>
                <a:spcPts val="0"/>
              </a:spcBef>
              <a:spcAft>
                <a:spcPts val="1000"/>
              </a:spcAft>
            </a:pPr>
            <a:r>
              <a:rPr sz="1300" b="1">
                <a:solidFill>
                  <a:srgbClr val="8BC53D"/>
                </a:solidFill>
                <a:latin typeface="Arial"/>
              </a:rPr>
              <a:t>▸  </a:t>
            </a:r>
            <a:r>
              <a:rPr sz="1300" b="1">
                <a:solidFill>
                  <a:srgbClr val="FFFFFF"/>
                </a:solidFill>
                <a:latin typeface="Arial"/>
              </a:rPr>
              <a:t>backend/sql/schema.sql cannot build a database. </a:t>
            </a:r>
            <a:r>
              <a:rPr sz="1300" b="0">
                <a:solidFill>
                  <a:srgbClr val="D6E2F5"/>
                </a:solidFill>
                <a:latin typeface="Arial"/>
              </a:rPr>
              <a:t>It indexes a column its own table never declares.</a:t>
            </a:r>
          </a:p>
          <a:p>
            <a:pPr algn="l">
              <a:spcBef>
                <a:spcPts val="0"/>
              </a:spcBef>
              <a:spcAft>
                <a:spcPts val="1000"/>
              </a:spcAft>
            </a:pPr>
            <a:r>
              <a:rPr sz="1300" b="1">
                <a:solidFill>
                  <a:srgbClr val="8BC53D"/>
                </a:solidFill>
                <a:latin typeface="Arial"/>
              </a:rPr>
              <a:t>▸  </a:t>
            </a:r>
            <a:r>
              <a:rPr sz="1300" b="1">
                <a:solidFill>
                  <a:srgbClr val="FFFFFF"/>
                </a:solidFill>
                <a:latin typeface="Arial"/>
              </a:rPr>
              <a:t>A mistyped flag silently meant “off.” </a:t>
            </a:r>
            <a:r>
              <a:rPr sz="1300" b="0">
                <a:solidFill>
                  <a:srgbClr val="D6E2F5"/>
                </a:solidFill>
                <a:latin typeface="Arial"/>
              </a:rPr>
              <a:t>Clean boot, no cutover, no signal.</a:t>
            </a:r>
          </a:p>
        </p:txBody>
      </p:sp>
      <p:sp>
        <p:nvSpPr>
          <p:cNvPr id="10" name="TextBox 9"/>
          <p:cNvSpPr txBox="1"/>
          <p:nvPr/>
        </p:nvSpPr>
        <p:spPr>
          <a:xfrm>
            <a:off x="6519672" y="1810512"/>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What shipped, and what it proved</a:t>
            </a:r>
          </a:p>
          <a:p>
            <a:pPr algn="l">
              <a:spcBef>
                <a:spcPts val="0"/>
              </a:spcBef>
              <a:spcAft>
                <a:spcPts val="800"/>
              </a:spcAft>
            </a:pPr>
            <a:r>
              <a:rPr sz="1300" b="0">
                <a:solidFill>
                  <a:srgbClr val="9AA0C4"/>
                </a:solidFill>
                <a:latin typeface="Arial"/>
              </a:rPr>
              <a:t>the first working cutover in the program</a:t>
            </a:r>
          </a:p>
        </p:txBody>
      </p:sp>
      <p:sp>
        <p:nvSpPr>
          <p:cNvPr id="11" name="TextBox 10"/>
          <p:cNvSpPr txBox="1"/>
          <p:nvPr/>
        </p:nvSpPr>
        <p:spPr>
          <a:xfrm>
            <a:off x="6519672" y="2395728"/>
            <a:ext cx="4937760" cy="365760"/>
          </a:xfrm>
          <a:prstGeom prst="rect">
            <a:avLst/>
          </a:prstGeom>
          <a:noFill/>
        </p:spPr>
        <p:txBody>
          <a:bodyPr wrap="square" lIns="0" rIns="0" tIns="0" bIns="0">
            <a:spAutoFit/>
          </a:bodyPr>
          <a:lstStyle/>
          <a:p>
            <a:pPr algn="l">
              <a:spcBef>
                <a:spcPts val="0"/>
              </a:spcBef>
              <a:spcAft>
                <a:spcPts val="1000"/>
              </a:spcAft>
            </a:pPr>
            <a:r>
              <a:rPr sz="1300" b="1">
                <a:solidFill>
                  <a:srgbClr val="8BC53D"/>
                </a:solidFill>
                <a:latin typeface="Arial"/>
              </a:rPr>
              <a:t>▸  </a:t>
            </a:r>
            <a:r>
              <a:rPr sz="1300" b="1">
                <a:solidFill>
                  <a:srgbClr val="FFFFFF"/>
                </a:solidFill>
                <a:latin typeface="Arial"/>
              </a:rPr>
              <a:t>Per-route middleware </a:t>
            </a:r>
            <a:r>
              <a:rPr sz="1300" b="0">
                <a:solidFill>
                  <a:srgbClr val="D6E2F5"/>
                </a:solidFill>
                <a:latin typeface="Arial"/>
              </a:rPr>
              <a:t>instead of router-level, so unflipped paths fall through clean.</a:t>
            </a:r>
          </a:p>
          <a:p>
            <a:pPr algn="l">
              <a:spcBef>
                <a:spcPts val="0"/>
              </a:spcBef>
              <a:spcAft>
                <a:spcPts val="1000"/>
              </a:spcAft>
            </a:pPr>
            <a:r>
              <a:rPr sz="1300" b="1">
                <a:solidFill>
                  <a:srgbClr val="8BC53D"/>
                </a:solidFill>
                <a:latin typeface="Arial"/>
              </a:rPr>
              <a:t>▸  </a:t>
            </a:r>
            <a:r>
              <a:rPr sz="1300" b="1">
                <a:solidFill>
                  <a:srgbClr val="FFFFFF"/>
                </a:solidFill>
                <a:latin typeface="Arial"/>
              </a:rPr>
              <a:t>Modules re-mounted on the real legacy contract; </a:t>
            </a:r>
            <a:r>
              <a:rPr sz="1300" b="0">
                <a:solidFill>
                  <a:srgbClr val="D6E2F5"/>
                </a:solidFill>
                <a:latin typeface="Arial"/>
              </a:rPr>
              <a:t>the SPA now talks to the gateway.</a:t>
            </a:r>
          </a:p>
          <a:p>
            <a:pPr algn="l">
              <a:spcBef>
                <a:spcPts val="0"/>
              </a:spcBef>
              <a:spcAft>
                <a:spcPts val="1000"/>
              </a:spcAft>
            </a:pPr>
            <a:r>
              <a:rPr sz="1300" b="1">
                <a:solidFill>
                  <a:srgbClr val="8BC53D"/>
                </a:solidFill>
                <a:latin typeface="Arial"/>
              </a:rPr>
              <a:t>▸  </a:t>
            </a:r>
            <a:r>
              <a:rPr sz="1300" b="1">
                <a:solidFill>
                  <a:srgbClr val="FFFFFF"/>
                </a:solidFill>
                <a:latin typeface="Arial"/>
              </a:rPr>
              <a:t>A deployable artifact. </a:t>
            </a:r>
            <a:r>
              <a:rPr sz="1300" b="0">
                <a:solidFill>
                  <a:srgbClr val="D6E2F5"/>
                </a:solidFill>
                <a:latin typeface="Arial"/>
              </a:rPr>
              <a:t>Dockerfiles, compose stack, strict env validation.</a:t>
            </a:r>
          </a:p>
          <a:p>
            <a:pPr algn="l">
              <a:spcBef>
                <a:spcPts val="0"/>
              </a:spcBef>
              <a:spcAft>
                <a:spcPts val="1000"/>
              </a:spcAft>
            </a:pPr>
            <a:r>
              <a:rPr sz="1300" b="1">
                <a:solidFill>
                  <a:srgbClr val="8BC53D"/>
                </a:solidFill>
                <a:latin typeface="Arial"/>
              </a:rPr>
              <a:t>▸  </a:t>
            </a:r>
            <a:r>
              <a:rPr sz="1300" b="1">
                <a:solidFill>
                  <a:srgbClr val="FFFFFF"/>
                </a:solidFill>
                <a:latin typeface="Arial"/>
              </a:rPr>
              <a:t>Two standing guards. </a:t>
            </a:r>
            <a:r>
              <a:rPr sz="1300" b="0">
                <a:solidFill>
                  <a:srgbClr val="D6E2F5"/>
                </a:solidFill>
                <a:latin typeface="Arial"/>
              </a:rPr>
              <a:t>One derives the legacy and module route surfaces from source and fails the build on a mismatch; the other pins fall-through.</a:t>
            </a:r>
          </a:p>
          <a:p>
            <a:pPr algn="l">
              <a:spcBef>
                <a:spcPts val="0"/>
              </a:spcBef>
              <a:spcAft>
                <a:spcPts val="1000"/>
              </a:spcAft>
            </a:pPr>
            <a:r>
              <a:rPr sz="1300" b="1">
                <a:solidFill>
                  <a:srgbClr val="8BC53D"/>
                </a:solidFill>
                <a:latin typeface="Arial"/>
              </a:rPr>
              <a:t>▸  </a:t>
            </a:r>
            <a:r>
              <a:rPr sz="1300" b="1">
                <a:solidFill>
                  <a:srgbClr val="FFFFFF"/>
                </a:solidFill>
                <a:latin typeface="Arial"/>
              </a:rPr>
              <a:t>Verified under compose. </a:t>
            </a:r>
            <a:r>
              <a:rPr sz="1300" b="0">
                <a:solidFill>
                  <a:srgbClr val="D6E2F5"/>
                </a:solidFill>
                <a:latin typeface="Arial"/>
              </a:rPr>
              <a:t>/auth/login answered by the TypeScript module while /api/auth/status still proxied to legacy — then flag off, back to legacy.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HOW WE WILL KNOW IT IS SAFE</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3000" b="1">
                <a:solidFill>
                  <a:srgbClr val="FFFFFF"/>
                </a:solidFill>
                <a:latin typeface="Arial"/>
              </a:rPr>
              <a:t>The evidence machinery, built once and reused</a:t>
            </a:r>
          </a:p>
        </p:txBody>
      </p:sp>
      <p:sp>
        <p:nvSpPr>
          <p:cNvPr id="6" name="Rounded Rectangle 5"/>
          <p:cNvSpPr/>
          <p:nvPr/>
        </p:nvSpPr>
        <p:spPr>
          <a:xfrm>
            <a:off x="502920" y="1691640"/>
            <a:ext cx="3566160" cy="356616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874519"/>
            <a:ext cx="31089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The parity harness</a:t>
            </a:r>
          </a:p>
          <a:p>
            <a:pPr algn="l">
              <a:spcBef>
                <a:spcPts val="0"/>
              </a:spcBef>
              <a:spcAft>
                <a:spcPts val="800"/>
              </a:spcAft>
            </a:pPr>
            <a:r>
              <a:rPr sz="1300" b="0">
                <a:solidFill>
                  <a:srgbClr val="9AA0C4"/>
                </a:solidFill>
                <a:latin typeface="Arial"/>
              </a:rPr>
              <a:t>same gateway, flag off then on</a:t>
            </a:r>
          </a:p>
        </p:txBody>
      </p:sp>
      <p:sp>
        <p:nvSpPr>
          <p:cNvPr id="8" name="TextBox 7"/>
          <p:cNvSpPr txBox="1"/>
          <p:nvPr/>
        </p:nvSpPr>
        <p:spPr>
          <a:xfrm>
            <a:off x="731520" y="2514600"/>
            <a:ext cx="31089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Replays one request against both engines, </a:t>
            </a:r>
            <a:r>
              <a:rPr sz="1300" b="0">
                <a:solidFill>
                  <a:srgbClr val="D6E2F5"/>
                </a:solidFill>
                <a:latin typeface="Arial"/>
              </a:rPr>
              <a:t>isolating exactly what a cutover changes, then normalises and diffs.</a:t>
            </a:r>
          </a:p>
          <a:p>
            <a:pPr algn="l">
              <a:spcBef>
                <a:spcPts val="0"/>
              </a:spcBef>
              <a:spcAft>
                <a:spcPts val="1100"/>
              </a:spcAft>
            </a:pPr>
            <a:r>
              <a:rPr sz="1300" b="1">
                <a:solidFill>
                  <a:srgbClr val="8BC53D"/>
                </a:solidFill>
                <a:latin typeface="Arial"/>
              </a:rPr>
              <a:t>▸  </a:t>
            </a:r>
            <a:r>
              <a:rPr sz="1300" b="1">
                <a:solidFill>
                  <a:srgbClr val="FFFFFF"/>
                </a:solidFill>
                <a:latin typeface="Arial"/>
              </a:rPr>
              <a:t>Noise control is the whole game. </a:t>
            </a:r>
            <a:r>
              <a:rPr sz="1300" b="0">
                <a:solidFill>
                  <a:srgbClr val="D6E2F5"/>
                </a:solidFill>
                <a:latin typeface="Arial"/>
              </a:rPr>
              <a:t>A harness that reports differing ids gets ignored — which is worse than not having one.</a:t>
            </a:r>
          </a:p>
          <a:p>
            <a:pPr algn="l">
              <a:spcBef>
                <a:spcPts val="0"/>
              </a:spcBef>
              <a:spcAft>
                <a:spcPts val="1100"/>
              </a:spcAft>
            </a:pPr>
            <a:r>
              <a:rPr sz="1300" b="1">
                <a:solidFill>
                  <a:srgbClr val="8BC53D"/>
                </a:solidFill>
                <a:latin typeface="Arial"/>
              </a:rPr>
              <a:t>▸  </a:t>
            </a:r>
            <a:r>
              <a:rPr sz="1300" b="1">
                <a:solidFill>
                  <a:srgbClr val="FFFFFF"/>
                </a:solidFill>
                <a:latin typeface="Arial"/>
              </a:rPr>
              <a:t>Two were built independently; the weaker one was deleted. </a:t>
            </a:r>
            <a:r>
              <a:rPr sz="1300" b="0">
                <a:solidFill>
                  <a:srgbClr val="D6E2F5"/>
                </a:solidFill>
                <a:latin typeface="Arial"/>
              </a:rPr>
              <a:t>Two harnesses for one job is worse than either. 73 tests.</a:t>
            </a:r>
          </a:p>
        </p:txBody>
      </p:sp>
      <p:sp>
        <p:nvSpPr>
          <p:cNvPr id="9" name="Rounded Rectangle 8"/>
          <p:cNvSpPr/>
          <p:nvPr/>
        </p:nvSpPr>
        <p:spPr>
          <a:xfrm>
            <a:off x="4251960" y="1691640"/>
            <a:ext cx="3566160" cy="356616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80560" y="1874519"/>
            <a:ext cx="31089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What authorises a flip</a:t>
            </a:r>
          </a:p>
          <a:p>
            <a:pPr algn="l">
              <a:spcBef>
                <a:spcPts val="0"/>
              </a:spcBef>
              <a:spcAft>
                <a:spcPts val="800"/>
              </a:spcAft>
            </a:pPr>
            <a:r>
              <a:rPr sz="1300" b="0">
                <a:solidFill>
                  <a:srgbClr val="9AA0C4"/>
                </a:solidFill>
                <a:latin typeface="Arial"/>
              </a:rPr>
              <a:t>and what does not</a:t>
            </a:r>
          </a:p>
        </p:txBody>
      </p:sp>
      <p:sp>
        <p:nvSpPr>
          <p:cNvPr id="11" name="TextBox 10"/>
          <p:cNvSpPr txBox="1"/>
          <p:nvPr/>
        </p:nvSpPr>
        <p:spPr>
          <a:xfrm>
            <a:off x="4480560" y="2514600"/>
            <a:ext cx="31089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The request set is derived from source, </a:t>
            </a:r>
            <a:r>
              <a:rPr sz="1300" b="0">
                <a:solidFill>
                  <a:srgbClr val="D6E2F5"/>
                </a:solidFill>
                <a:latin typeface="Arial"/>
              </a:rPr>
              <a:t>never hand-listed — adding a route widens what parity must prove, and a stale derivation fails the build.</a:t>
            </a:r>
          </a:p>
          <a:p>
            <a:pPr algn="l">
              <a:spcBef>
                <a:spcPts val="0"/>
              </a:spcBef>
              <a:spcAft>
                <a:spcPts val="1100"/>
              </a:spcAft>
            </a:pPr>
            <a:r>
              <a:rPr sz="1300" b="1">
                <a:solidFill>
                  <a:srgbClr val="8BC53D"/>
                </a:solidFill>
                <a:latin typeface="Arial"/>
              </a:rPr>
              <a:t>▸  </a:t>
            </a:r>
            <a:r>
              <a:rPr sz="1300" b="1">
                <a:solidFill>
                  <a:srgbClr val="FFFFFF"/>
                </a:solidFill>
                <a:latin typeface="Arial"/>
              </a:rPr>
              <a:t>Two refusals before any request: </a:t>
            </a:r>
            <a:r>
              <a:rPr sz="1300" b="0">
                <a:solidFill>
                  <a:srgbClr val="D6E2F5"/>
                </a:solidFill>
                <a:latin typeface="Arial"/>
              </a:rPr>
              <a:t>not a production host, and the staging marker must be present. Exit 3 means “declined”, not “disagreed”.</a:t>
            </a:r>
          </a:p>
          <a:p>
            <a:pPr algn="l">
              <a:spcBef>
                <a:spcPts val="0"/>
              </a:spcBef>
              <a:spcAft>
                <a:spcPts val="1100"/>
              </a:spcAft>
            </a:pPr>
            <a:r>
              <a:rPr sz="1300" b="1">
                <a:solidFill>
                  <a:srgbClr val="8BC53D"/>
                </a:solidFill>
                <a:latin typeface="Arial"/>
              </a:rPr>
              <a:t>▸  </a:t>
            </a:r>
            <a:r>
              <a:rPr sz="1300" b="1">
                <a:solidFill>
                  <a:srgbClr val="FFFFFF"/>
                </a:solidFill>
                <a:latin typeface="Arial"/>
              </a:rPr>
              <a:t>Coverage prints with every verdict. </a:t>
            </a:r>
            <a:r>
              <a:rPr sz="1300" b="0">
                <a:solidFill>
                  <a:srgbClr val="D6E2F5"/>
                </a:solidFill>
                <a:latin typeface="Arial"/>
              </a:rPr>
              <a:t>Today the declared suite compares 22 of 68 endpoints — so no run can read as “parity proven.”</a:t>
            </a:r>
          </a:p>
        </p:txBody>
      </p:sp>
      <p:sp>
        <p:nvSpPr>
          <p:cNvPr id="12" name="Rounded Rectangle 11"/>
          <p:cNvSpPr/>
          <p:nvPr/>
        </p:nvSpPr>
        <p:spPr>
          <a:xfrm>
            <a:off x="8001000" y="1691640"/>
            <a:ext cx="3566160" cy="356616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0" y="1874519"/>
            <a:ext cx="31089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One-command demo stack</a:t>
            </a:r>
          </a:p>
          <a:p>
            <a:pPr algn="l">
              <a:spcBef>
                <a:spcPts val="0"/>
              </a:spcBef>
              <a:spcAft>
                <a:spcPts val="800"/>
              </a:spcAft>
            </a:pPr>
            <a:r>
              <a:rPr sz="1300" b="0">
                <a:solidFill>
                  <a:srgbClr val="9AA0C4"/>
                </a:solidFill>
                <a:latin typeface="Arial"/>
              </a:rPr>
              <a:t>the whole path a user takes</a:t>
            </a:r>
          </a:p>
        </p:txBody>
      </p:sp>
      <p:sp>
        <p:nvSpPr>
          <p:cNvPr id="14" name="TextBox 13"/>
          <p:cNvSpPr txBox="1"/>
          <p:nvPr/>
        </p:nvSpPr>
        <p:spPr>
          <a:xfrm>
            <a:off x="8229600" y="2514600"/>
            <a:ext cx="3108960" cy="365760"/>
          </a:xfrm>
          <a:prstGeom prst="rect">
            <a:avLst/>
          </a:prstGeom>
          <a:noFill/>
        </p:spPr>
        <p:txBody>
          <a:bodyPr wrap="square" lIns="0" rIns="0" tIns="0" bIns="0">
            <a:spAutoFit/>
          </a:bodyPr>
          <a:lstStyle/>
          <a:p>
            <a:pPr algn="l">
              <a:spcBef>
                <a:spcPts val="0"/>
              </a:spcBef>
              <a:spcAft>
                <a:spcPts val="1100"/>
              </a:spcAft>
            </a:pPr>
            <a:r>
              <a:rPr sz="1300" b="1">
                <a:solidFill>
                  <a:srgbClr val="8BC53D"/>
                </a:solidFill>
                <a:latin typeface="Arial"/>
              </a:rPr>
              <a:t>▸  </a:t>
            </a:r>
            <a:r>
              <a:rPr sz="1300" b="1">
                <a:solidFill>
                  <a:srgbClr val="FFFFFF"/>
                </a:solidFill>
                <a:latin typeface="Arial"/>
              </a:rPr>
              <a:t>SPA → gateway → legacy → Postgres, </a:t>
            </a:r>
            <a:r>
              <a:rPr sz="1300" b="0">
                <a:solidFill>
                  <a:srgbClr val="D6E2F5"/>
                </a:solidFill>
                <a:latin typeface="Arial"/>
              </a:rPr>
              <a:t>seeded, in one script.</a:t>
            </a:r>
          </a:p>
          <a:p>
            <a:pPr algn="l">
              <a:spcBef>
                <a:spcPts val="0"/>
              </a:spcBef>
              <a:spcAft>
                <a:spcPts val="1100"/>
              </a:spcAft>
            </a:pPr>
            <a:r>
              <a:rPr sz="1300" b="1">
                <a:solidFill>
                  <a:srgbClr val="8BC53D"/>
                </a:solidFill>
                <a:latin typeface="Arial"/>
              </a:rPr>
              <a:t>▸  </a:t>
            </a:r>
            <a:r>
              <a:rPr sz="1300" b="1">
                <a:solidFill>
                  <a:srgbClr val="FFFFFF"/>
                </a:solidFill>
                <a:latin typeface="Arial"/>
              </a:rPr>
              <a:t>Verifies ten behaviours on boot, </a:t>
            </a:r>
            <a:r>
              <a:rPr sz="1300" b="0">
                <a:solidFill>
                  <a:srgbClr val="D6E2F5"/>
                </a:solidFill>
                <a:latin typeface="Arial"/>
              </a:rPr>
              <a:t>including tenant scoping and QuickBooks fall-through.</a:t>
            </a:r>
          </a:p>
          <a:p>
            <a:pPr algn="l">
              <a:spcBef>
                <a:spcPts val="0"/>
              </a:spcBef>
              <a:spcAft>
                <a:spcPts val="1100"/>
              </a:spcAft>
            </a:pPr>
            <a:r>
              <a:rPr sz="1300" b="1">
                <a:solidFill>
                  <a:srgbClr val="8BC53D"/>
                </a:solidFill>
                <a:latin typeface="Arial"/>
              </a:rPr>
              <a:t>▸  </a:t>
            </a:r>
            <a:r>
              <a:rPr sz="1300" b="1">
                <a:solidFill>
                  <a:srgbClr val="FFFFFF"/>
                </a:solidFill>
                <a:latin typeface="Arial"/>
              </a:rPr>
              <a:t>Three personas, three companies — </a:t>
            </a:r>
            <a:r>
              <a:rPr sz="1300" b="0">
                <a:solidFill>
                  <a:srgbClr val="D6E2F5"/>
                </a:solidFill>
                <a:latin typeface="Arial"/>
              </a:rPr>
              <a:t>one owned by nobody, so cross-tenant denial is demonstrated, not assumed.</a:t>
            </a:r>
          </a:p>
        </p:txBody>
      </p:sp>
      <p:sp>
        <p:nvSpPr>
          <p:cNvPr id="15" name="TextBox 14"/>
          <p:cNvSpPr txBox="1"/>
          <p:nvPr/>
        </p:nvSpPr>
        <p:spPr>
          <a:xfrm>
            <a:off x="502920" y="5532120"/>
            <a:ext cx="11155680" cy="457200"/>
          </a:xfrm>
          <a:prstGeom prst="rect">
            <a:avLst/>
          </a:prstGeom>
          <a:noFill/>
        </p:spPr>
        <p:txBody>
          <a:bodyPr wrap="square" lIns="0" rIns="0" tIns="0" bIns="0">
            <a:spAutoFit/>
          </a:bodyPr>
          <a:lstStyle/>
          <a:p>
            <a:pPr algn="l">
              <a:spcBef>
                <a:spcPts val="0"/>
              </a:spcBef>
              <a:spcAft>
                <a:spcPts val="600"/>
              </a:spcAft>
            </a:pPr>
            <a:r>
              <a:rPr sz="1300" b="1">
                <a:solidFill>
                  <a:srgbClr val="FFFFFF"/>
                </a:solidFill>
                <a:latin typeface="Arial"/>
              </a:rPr>
              <a:t>A clean run is evidence for a flag flip, not proof of parity — and it now says how much it actually looked at. </a:t>
            </a:r>
            <a:r>
              <a:rPr sz="1300" b="0">
                <a:solidFill>
                  <a:srgbClr val="D6E2F5"/>
                </a:solidFill>
                <a:latin typeface="Arial"/>
              </a:rPr>
              <a:t>The flip criteria separate what authorises a reversible flip from what authorises deleting a handler, which is not reversible.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WHAT RUNNING IT CAUGHT</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3000" b="1">
                <a:solidFill>
                  <a:srgbClr val="FFFFFF"/>
                </a:solidFill>
                <a:latin typeface="Arial"/>
              </a:rPr>
              <a:t>Defects that no amount of unit testing would have found</a:t>
            </a:r>
          </a:p>
        </p:txBody>
      </p:sp>
      <p:sp>
        <p:nvSpPr>
          <p:cNvPr id="6" name="Rounded Rectangle 5"/>
          <p:cNvSpPr/>
          <p:nvPr/>
        </p:nvSpPr>
        <p:spPr>
          <a:xfrm>
            <a:off x="502920" y="1627632"/>
            <a:ext cx="11155680" cy="1874519"/>
          </a:xfrm>
          <a:prstGeom prst="roundRect">
            <a:avLst>
              <a:gd name="adj" fmla="val 6000"/>
            </a:avLst>
          </a:prstGeom>
          <a:solidFill>
            <a:srgbClr val="242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810512"/>
            <a:ext cx="10698480" cy="365760"/>
          </a:xfrm>
          <a:prstGeom prst="rect">
            <a:avLst/>
          </a:prstGeom>
          <a:noFill/>
        </p:spPr>
        <p:txBody>
          <a:bodyPr wrap="square" lIns="0" rIns="0" tIns="0" bIns="0">
            <a:spAutoFit/>
          </a:bodyPr>
          <a:lstStyle/>
          <a:p>
            <a:pPr algn="l">
              <a:spcBef>
                <a:spcPts val="0"/>
              </a:spcBef>
              <a:spcAft>
                <a:spcPts val="600"/>
              </a:spcAft>
            </a:pPr>
            <a:r>
              <a:rPr sz="1300" b="1">
                <a:solidFill>
                  <a:srgbClr val="9BD05A"/>
                </a:solidFill>
                <a:latin typeface="Arial"/>
              </a:rPr>
              <a:t>SECURITY  ·  found by the demo stack's own boot check</a:t>
            </a:r>
          </a:p>
          <a:p>
            <a:pPr algn="l">
              <a:spcBef>
                <a:spcPts val="0"/>
              </a:spcBef>
              <a:spcAft>
                <a:spcPts val="800"/>
              </a:spcAft>
            </a:pPr>
            <a:r>
              <a:rPr sz="2100" b="1">
                <a:solidFill>
                  <a:srgbClr val="FFFFFF"/>
                </a:solidFill>
                <a:latin typeface="Arial"/>
              </a:rPr>
              <a:t>Every broker could read every tenant's company</a:t>
            </a:r>
          </a:p>
          <a:p>
            <a:pPr algn="l">
              <a:spcBef>
                <a:spcPts val="0"/>
              </a:spcBef>
              <a:spcAft>
                <a:spcPts val="600"/>
              </a:spcAft>
            </a:pPr>
            <a:r>
              <a:rPr sz="1300" b="0">
                <a:solidFill>
                  <a:srgbClr val="D6E2F5"/>
                </a:solidFill>
                <a:latin typeface="Arial"/>
              </a:rPr>
              <a:t>The shared access guard short-circuited </a:t>
            </a:r>
            <a:r>
              <a:rPr sz="1300" b="0">
                <a:solidFill>
                  <a:srgbClr val="8BC53D"/>
                </a:solidFill>
                <a:latin typeface="Consolas"/>
              </a:rPr>
              <a:t>role === "broker"</a:t>
            </a:r>
            <a:r>
              <a:rPr sz="1300" b="0">
                <a:solidFill>
                  <a:srgbClr val="D6E2F5"/>
                </a:solidFill>
                <a:latin typeface="Arial"/>
              </a:rPr>
              <a:t> to true; legacy grants blanket access to admins only. All seven domains route their tenant check through that guard, so the first flip would have handed every broker read access to every other tenant — on a platform whose tenants are competing sellers in the same process. Listing endpoints were scoped correctly, which is why it only surfaced on a direct fetch by id.</a:t>
            </a:r>
          </a:p>
        </p:txBody>
      </p:sp>
      <p:sp>
        <p:nvSpPr>
          <p:cNvPr id="8" name="Rounded Rectangle 7"/>
          <p:cNvSpPr/>
          <p:nvPr/>
        </p:nvSpPr>
        <p:spPr>
          <a:xfrm>
            <a:off x="502920" y="3657600"/>
            <a:ext cx="3566160" cy="269748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3822191"/>
            <a:ext cx="31089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Two in the product</a:t>
            </a:r>
          </a:p>
          <a:p>
            <a:pPr algn="l">
              <a:spcBef>
                <a:spcPts val="0"/>
              </a:spcBef>
              <a:spcAft>
                <a:spcPts val="800"/>
              </a:spcAft>
            </a:pPr>
            <a:r>
              <a:rPr sz="1300" b="0">
                <a:solidFill>
                  <a:srgbClr val="9AA0C4"/>
                </a:solidFill>
                <a:latin typeface="Arial"/>
              </a:rPr>
              <a:t>wrong answer, clean response</a:t>
            </a:r>
          </a:p>
        </p:txBody>
      </p:sp>
      <p:sp>
        <p:nvSpPr>
          <p:cNvPr id="10" name="TextBox 9"/>
          <p:cNvSpPr txBox="1"/>
          <p:nvPr/>
        </p:nvSpPr>
        <p:spPr>
          <a:xfrm>
            <a:off x="731520" y="4434840"/>
            <a:ext cx="3108960" cy="365760"/>
          </a:xfrm>
          <a:prstGeom prst="rect">
            <a:avLst/>
          </a:prstGeom>
          <a:noFill/>
        </p:spPr>
        <p:txBody>
          <a:bodyPr wrap="square" lIns="0" rIns="0" tIns="0" bIns="0">
            <a:spAutoFit/>
          </a:bodyPr>
          <a:lstStyle/>
          <a:p>
            <a:pPr algn="l">
              <a:spcBef>
                <a:spcPts val="0"/>
              </a:spcBef>
              <a:spcAft>
                <a:spcPts val="1000"/>
              </a:spcAft>
            </a:pPr>
            <a:r>
              <a:rPr sz="1300" b="1">
                <a:solidFill>
                  <a:srgbClr val="8BC53D"/>
                </a:solidFill>
                <a:latin typeface="Arial"/>
              </a:rPr>
              <a:t>▸  </a:t>
            </a:r>
            <a:r>
              <a:rPr sz="1300" b="1">
                <a:solidFill>
                  <a:srgbClr val="FFFFFF"/>
                </a:solidFill>
                <a:latin typeface="Arial"/>
              </a:rPr>
              <a:t>An archived-view filter was ignored. </a:t>
            </a:r>
            <a:r>
              <a:rPr sz="1300" b="0">
                <a:solidFill>
                  <a:srgbClr val="D6E2F5"/>
                </a:solidFill>
                <a:latin typeface="Arial"/>
              </a:rPr>
              <a:t>The SPA sends includeArchived; the modules read include_archived. The query parsed cleanly and returned the unfiltered list.</a:t>
            </a:r>
          </a:p>
          <a:p>
            <a:pPr algn="l">
              <a:spcBef>
                <a:spcPts val="0"/>
              </a:spcBef>
              <a:spcAft>
                <a:spcPts val="1000"/>
              </a:spcAft>
            </a:pPr>
            <a:r>
              <a:rPr sz="1300" b="1">
                <a:solidFill>
                  <a:srgbClr val="8BC53D"/>
                </a:solidFill>
                <a:latin typeface="Arial"/>
              </a:rPr>
              <a:t>▸  </a:t>
            </a:r>
            <a:r>
              <a:rPr sz="1300" b="1">
                <a:solidFill>
                  <a:srgbClr val="FFFFFF"/>
                </a:solidFill>
                <a:latin typeface="Arial"/>
              </a:rPr>
              <a:t>A document-activity column divergence. </a:t>
            </a:r>
            <a:r>
              <a:rPr sz="1300" b="0">
                <a:solidFill>
                  <a:srgbClr val="D6E2F5"/>
                </a:solidFill>
                <a:latin typeface="Arial"/>
              </a:rPr>
              <a:t>The module writes action/actor_id/at; legacy reads activity_type/user_id/created_at.</a:t>
            </a:r>
          </a:p>
        </p:txBody>
      </p:sp>
      <p:sp>
        <p:nvSpPr>
          <p:cNvPr id="11" name="Rounded Rectangle 10"/>
          <p:cNvSpPr/>
          <p:nvPr/>
        </p:nvSpPr>
        <p:spPr>
          <a:xfrm>
            <a:off x="4251960" y="3657600"/>
            <a:ext cx="3566160" cy="269748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80560" y="3822191"/>
            <a:ext cx="31089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Two in the checking itself</a:t>
            </a:r>
          </a:p>
          <a:p>
            <a:pPr algn="l">
              <a:spcBef>
                <a:spcPts val="0"/>
              </a:spcBef>
              <a:spcAft>
                <a:spcPts val="800"/>
              </a:spcAft>
            </a:pPr>
            <a:r>
              <a:rPr sz="1300" b="0">
                <a:solidFill>
                  <a:srgbClr val="9AA0C4"/>
                </a:solidFill>
                <a:latin typeface="Arial"/>
              </a:rPr>
              <a:t>the apparatus got audited too</a:t>
            </a:r>
          </a:p>
        </p:txBody>
      </p:sp>
      <p:sp>
        <p:nvSpPr>
          <p:cNvPr id="13" name="TextBox 12"/>
          <p:cNvSpPr txBox="1"/>
          <p:nvPr/>
        </p:nvSpPr>
        <p:spPr>
          <a:xfrm>
            <a:off x="4480560" y="4434840"/>
            <a:ext cx="3108960" cy="365760"/>
          </a:xfrm>
          <a:prstGeom prst="rect">
            <a:avLst/>
          </a:prstGeom>
          <a:noFill/>
        </p:spPr>
        <p:txBody>
          <a:bodyPr wrap="square" lIns="0" rIns="0" tIns="0" bIns="0">
            <a:spAutoFit/>
          </a:bodyPr>
          <a:lstStyle/>
          <a:p>
            <a:pPr algn="l">
              <a:spcBef>
                <a:spcPts val="0"/>
              </a:spcBef>
              <a:spcAft>
                <a:spcPts val="1000"/>
              </a:spcAft>
            </a:pPr>
            <a:r>
              <a:rPr sz="1300" b="1">
                <a:solidFill>
                  <a:srgbClr val="8BC53D"/>
                </a:solidFill>
                <a:latin typeface="Arial"/>
              </a:rPr>
              <a:t>▸  </a:t>
            </a:r>
            <a:r>
              <a:rPr sz="1300" b="1">
                <a:solidFill>
                  <a:srgbClr val="FFFFFF"/>
                </a:solidFill>
                <a:latin typeface="Arial"/>
              </a:rPr>
              <a:t>A scenario asked for a path neither engine serves. </a:t>
            </a:r>
            <a:r>
              <a:rPr sz="1300" b="0">
                <a:solidFill>
                  <a:srgbClr val="D6E2F5"/>
                </a:solidFill>
                <a:latin typeface="Arial"/>
              </a:rPr>
              <a:t>Both 404'd, so it reported a match — while its whole purpose was to observe an expected difference.</a:t>
            </a:r>
          </a:p>
          <a:p>
            <a:pPr algn="l">
              <a:spcBef>
                <a:spcPts val="0"/>
              </a:spcBef>
              <a:spcAft>
                <a:spcPts val="1000"/>
              </a:spcAft>
            </a:pPr>
            <a:r>
              <a:rPr sz="1300" b="1">
                <a:solidFill>
                  <a:srgbClr val="8BC53D"/>
                </a:solidFill>
                <a:latin typeface="Arial"/>
              </a:rPr>
              <a:t>▸  </a:t>
            </a:r>
            <a:r>
              <a:rPr sz="1300" b="1">
                <a:solidFill>
                  <a:srgbClr val="FFFFFF"/>
                </a:solidFill>
                <a:latin typeface="Arial"/>
              </a:rPr>
              <a:t>“PARITY CLEAN” printed either way. </a:t>
            </a:r>
            <a:r>
              <a:rPr sz="1300" b="0">
                <a:solidFill>
                  <a:srgbClr val="D6E2F5"/>
                </a:solidFill>
                <a:latin typeface="Arial"/>
              </a:rPr>
              <a:t>22-of-68 endpoints and 68-of-68 read identically until coverage was measured.</a:t>
            </a:r>
          </a:p>
        </p:txBody>
      </p:sp>
      <p:sp>
        <p:nvSpPr>
          <p:cNvPr id="14" name="Rounded Rectangle 13"/>
          <p:cNvSpPr/>
          <p:nvPr/>
        </p:nvSpPr>
        <p:spPr>
          <a:xfrm>
            <a:off x="8001000" y="3657600"/>
            <a:ext cx="3566160" cy="269748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0" y="3822191"/>
            <a:ext cx="31089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And one we can now prove</a:t>
            </a:r>
          </a:p>
          <a:p>
            <a:pPr algn="l">
              <a:spcBef>
                <a:spcPts val="0"/>
              </a:spcBef>
              <a:spcAft>
                <a:spcPts val="800"/>
              </a:spcAft>
            </a:pPr>
            <a:r>
              <a:rPr sz="1300" b="0">
                <a:solidFill>
                  <a:srgbClr val="9AA0C4"/>
                </a:solidFill>
                <a:latin typeface="Arial"/>
              </a:rPr>
              <a:t>rather than assert</a:t>
            </a:r>
          </a:p>
        </p:txBody>
      </p:sp>
      <p:sp>
        <p:nvSpPr>
          <p:cNvPr id="16" name="TextBox 15"/>
          <p:cNvSpPr txBox="1"/>
          <p:nvPr/>
        </p:nvSpPr>
        <p:spPr>
          <a:xfrm>
            <a:off x="8229600" y="4434840"/>
            <a:ext cx="3108960" cy="365760"/>
          </a:xfrm>
          <a:prstGeom prst="rect">
            <a:avLst/>
          </a:prstGeom>
          <a:noFill/>
        </p:spPr>
        <p:txBody>
          <a:bodyPr wrap="square" lIns="0" rIns="0" tIns="0" bIns="0">
            <a:spAutoFit/>
          </a:bodyPr>
          <a:lstStyle/>
          <a:p>
            <a:pPr algn="l">
              <a:spcBef>
                <a:spcPts val="0"/>
              </a:spcBef>
              <a:spcAft>
                <a:spcPts val="1000"/>
              </a:spcAft>
            </a:pPr>
            <a:r>
              <a:rPr sz="1300" b="1">
                <a:solidFill>
                  <a:srgbClr val="8BC53D"/>
                </a:solidFill>
                <a:latin typeface="Arial"/>
              </a:rPr>
              <a:t>▸  </a:t>
            </a:r>
            <a:r>
              <a:rPr sz="1300" b="1">
                <a:solidFill>
                  <a:srgbClr val="FFFFFF"/>
                </a:solidFill>
                <a:latin typeface="Arial"/>
              </a:rPr>
              <a:t>Production's schema is not recoverable from this repository. </a:t>
            </a:r>
            <a:r>
              <a:rPr sz="1300" b="0">
                <a:solidFill>
                  <a:srgbClr val="D6E2F5"/>
                </a:solidFill>
                <a:latin typeface="Arial"/>
              </a:rPr>
              <a:t>One table is created twice with conflicting definitions, both guarded by IF NOT EXISTS — which one production has depends on the order two migrations ran in.</a:t>
            </a:r>
          </a:p>
          <a:p>
            <a:pPr algn="l">
              <a:spcBef>
                <a:spcPts val="0"/>
              </a:spcBef>
              <a:spcAft>
                <a:spcPts val="1000"/>
              </a:spcAft>
            </a:pPr>
            <a:r>
              <a:rPr sz="1300" b="1">
                <a:solidFill>
                  <a:srgbClr val="8BC53D"/>
                </a:solidFill>
                <a:latin typeface="Arial"/>
              </a:rPr>
              <a:t>▸  </a:t>
            </a:r>
            <a:r>
              <a:rPr sz="1300" b="1">
                <a:solidFill>
                  <a:srgbClr val="FFFFFF"/>
                </a:solidFill>
                <a:latin typeface="Arial"/>
              </a:rPr>
              <a:t>That is the argument for reconciling from a snapshot, </a:t>
            </a:r>
            <a:r>
              <a:rPr sz="1300" b="0">
                <a:solidFill>
                  <a:srgbClr val="D6E2F5"/>
                </a:solidFill>
                <a:latin typeface="Arial"/>
              </a:rPr>
              <a:t>now demonstrated.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BUILT NEW  ·  SE-0004</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3000" b="1">
                <a:solidFill>
                  <a:srgbClr val="FFFFFF"/>
                </a:solidFill>
                <a:latin typeface="Arial"/>
              </a:rPr>
              <a:t>The activity log — the one capability whose value expires</a:t>
            </a:r>
          </a:p>
        </p:txBody>
      </p:sp>
      <p:sp>
        <p:nvSpPr>
          <p:cNvPr id="6" name="Rounded Rectangle 5"/>
          <p:cNvSpPr/>
          <p:nvPr/>
        </p:nvSpPr>
        <p:spPr>
          <a:xfrm>
            <a:off x="502920" y="1691640"/>
            <a:ext cx="5394960" cy="365760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291072" y="1691640"/>
            <a:ext cx="5394960" cy="365760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874519"/>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Why now, and why greenfield</a:t>
            </a:r>
          </a:p>
          <a:p>
            <a:pPr algn="l">
              <a:spcBef>
                <a:spcPts val="0"/>
              </a:spcBef>
              <a:spcAft>
                <a:spcPts val="800"/>
              </a:spcAft>
            </a:pPr>
            <a:r>
              <a:rPr sz="1300" b="0">
                <a:solidFill>
                  <a:srgbClr val="9AA0C4"/>
                </a:solidFill>
                <a:latin typeface="Arial"/>
              </a:rPr>
              <a:t>activity not recorded when it happened is gone</a:t>
            </a:r>
          </a:p>
        </p:txBody>
      </p:sp>
      <p:sp>
        <p:nvSpPr>
          <p:cNvPr id="9" name="TextBox 8"/>
          <p:cNvSpPr txBox="1"/>
          <p:nvPr/>
        </p:nvSpPr>
        <p:spPr>
          <a:xfrm>
            <a:off x="731520" y="2487168"/>
            <a:ext cx="4937760" cy="365760"/>
          </a:xfrm>
          <a:prstGeom prst="rect">
            <a:avLst/>
          </a:prstGeom>
          <a:noFill/>
        </p:spPr>
        <p:txBody>
          <a:bodyPr wrap="square" lIns="0" rIns="0" tIns="0" bIns="0">
            <a:spAutoFit/>
          </a:bodyPr>
          <a:lstStyle/>
          <a:p>
            <a:pPr algn="l">
              <a:spcBef>
                <a:spcPts val="0"/>
              </a:spcBef>
              <a:spcAft>
                <a:spcPts val="1100"/>
              </a:spcAft>
            </a:pPr>
            <a:r>
              <a:rPr sz="1400" b="1">
                <a:solidFill>
                  <a:srgbClr val="8BC53D"/>
                </a:solidFill>
                <a:latin typeface="Arial"/>
              </a:rPr>
              <a:t>▸  </a:t>
            </a:r>
            <a:r>
              <a:rPr sz="1400" b="1">
                <a:solidFill>
                  <a:srgbClr val="FFFFFF"/>
                </a:solidFill>
                <a:latin typeface="Arial"/>
              </a:rPr>
              <a:t>Buyer-engagement analytics is built entirely from history. </a:t>
            </a:r>
            <a:r>
              <a:rPr sz="1400" b="0">
                <a:solidFill>
                  <a:srgbClr val="D6E2F5"/>
                </a:solidFill>
                <a:latin typeface="Arial"/>
              </a:rPr>
              <a:t>Retrofitting yields a log with no past.</a:t>
            </a:r>
          </a:p>
          <a:p>
            <a:pPr algn="l">
              <a:spcBef>
                <a:spcPts val="0"/>
              </a:spcBef>
              <a:spcAft>
                <a:spcPts val="1100"/>
              </a:spcAft>
            </a:pPr>
            <a:r>
              <a:rPr sz="1400" b="1">
                <a:solidFill>
                  <a:srgbClr val="8BC53D"/>
                </a:solidFill>
                <a:latin typeface="Arial"/>
              </a:rPr>
              <a:t>▸  </a:t>
            </a:r>
            <a:r>
              <a:rPr sz="1400" b="1">
                <a:solidFill>
                  <a:srgbClr val="FFFFFF"/>
                </a:solidFill>
                <a:latin typeface="Arial"/>
              </a:rPr>
              <a:t>It has no legacy equivalent. </a:t>
            </a:r>
            <a:r>
              <a:rPr sz="1400" b="0">
                <a:solidFill>
                  <a:srgbClr val="D6E2F5"/>
                </a:solidFill>
                <a:latin typeface="Arial"/>
              </a:rPr>
              <a:t>Nothing to cut over, no parity to prove, no handler to delete — so it does not compete with the cutover work.</a:t>
            </a:r>
          </a:p>
          <a:p>
            <a:pPr algn="l">
              <a:spcBef>
                <a:spcPts val="0"/>
              </a:spcBef>
              <a:spcAft>
                <a:spcPts val="1100"/>
              </a:spcAft>
            </a:pPr>
            <a:r>
              <a:rPr sz="1400" b="1">
                <a:solidFill>
                  <a:srgbClr val="8BC53D"/>
                </a:solidFill>
                <a:latin typeface="Arial"/>
              </a:rPr>
              <a:t>▸  </a:t>
            </a:r>
            <a:r>
              <a:rPr sz="1400" b="1">
                <a:solidFill>
                  <a:srgbClr val="FFFFFF"/>
                </a:solidFill>
                <a:latin typeface="Arial"/>
              </a:rPr>
              <a:t>Capture is two-tier. </a:t>
            </a:r>
            <a:r>
              <a:rPr sz="1400" b="0">
                <a:solidFill>
                  <a:srgbClr val="D6E2F5"/>
                </a:solidFill>
                <a:latin typeface="Arial"/>
              </a:rPr>
              <a:t>A request envelope written at the gateway for every request, legacy-proxied included, plus typed events from migrated modules, joined by correlation id. Neither tier alone is sufficient.</a:t>
            </a:r>
          </a:p>
        </p:txBody>
      </p:sp>
      <p:sp>
        <p:nvSpPr>
          <p:cNvPr id="10" name="TextBox 9"/>
          <p:cNvSpPr txBox="1"/>
          <p:nvPr/>
        </p:nvSpPr>
        <p:spPr>
          <a:xfrm>
            <a:off x="6519672" y="1874519"/>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How it is made trustworthy</a:t>
            </a:r>
          </a:p>
          <a:p>
            <a:pPr algn="l">
              <a:spcBef>
                <a:spcPts val="0"/>
              </a:spcBef>
              <a:spcAft>
                <a:spcPts val="800"/>
              </a:spcAft>
            </a:pPr>
            <a:r>
              <a:rPr sz="1300" b="0">
                <a:solidFill>
                  <a:srgbClr val="9AA0C4"/>
                </a:solidFill>
                <a:latin typeface="Arial"/>
              </a:rPr>
              <a:t>and where the honesty limits are written down</a:t>
            </a:r>
          </a:p>
        </p:txBody>
      </p:sp>
      <p:sp>
        <p:nvSpPr>
          <p:cNvPr id="11" name="TextBox 10"/>
          <p:cNvSpPr txBox="1"/>
          <p:nvPr/>
        </p:nvSpPr>
        <p:spPr>
          <a:xfrm>
            <a:off x="6519672" y="2487168"/>
            <a:ext cx="4937760" cy="365760"/>
          </a:xfrm>
          <a:prstGeom prst="rect">
            <a:avLst/>
          </a:prstGeom>
          <a:noFill/>
        </p:spPr>
        <p:txBody>
          <a:bodyPr wrap="square" lIns="0" rIns="0" tIns="0" bIns="0">
            <a:spAutoFit/>
          </a:bodyPr>
          <a:lstStyle/>
          <a:p>
            <a:pPr algn="l">
              <a:spcBef>
                <a:spcPts val="0"/>
              </a:spcBef>
              <a:spcAft>
                <a:spcPts val="1100"/>
              </a:spcAft>
            </a:pPr>
            <a:r>
              <a:rPr sz="1400" b="1">
                <a:solidFill>
                  <a:srgbClr val="8BC53D"/>
                </a:solidFill>
                <a:latin typeface="Arial"/>
              </a:rPr>
              <a:t>▸  </a:t>
            </a:r>
            <a:r>
              <a:rPr sz="1400" b="1">
                <a:solidFill>
                  <a:srgbClr val="FFFFFF"/>
                </a:solidFill>
                <a:latin typeface="Arial"/>
              </a:rPr>
              <a:t>Immutability enforced twice. </a:t>
            </a:r>
            <a:r>
              <a:rPr sz="1400" b="0">
                <a:solidFill>
                  <a:srgbClr val="D6E2F5"/>
                </a:solidFill>
                <a:latin typeface="Arial"/>
              </a:rPr>
              <a:t>No update or delete method exists, and the app's database role lacks both grants — tested by asserting the refusal.</a:t>
            </a:r>
          </a:p>
          <a:p>
            <a:pPr algn="l">
              <a:spcBef>
                <a:spcPts val="0"/>
              </a:spcBef>
              <a:spcAft>
                <a:spcPts val="1100"/>
              </a:spcAft>
            </a:pPr>
            <a:r>
              <a:rPr sz="1400" b="1">
                <a:solidFill>
                  <a:srgbClr val="8BC53D"/>
                </a:solidFill>
                <a:latin typeface="Arial"/>
              </a:rPr>
              <a:t>▸  </a:t>
            </a:r>
            <a:r>
              <a:rPr sz="1400" b="1">
                <a:solidFill>
                  <a:srgbClr val="FFFFFF"/>
                </a:solidFill>
                <a:latin typeface="Arial"/>
              </a:rPr>
              <a:t>Failure is visible, not silent. </a:t>
            </a:r>
            <a:r>
              <a:rPr sz="1400" b="0">
                <a:solidFill>
                  <a:srgbClr val="D6E2F5"/>
                </a:solidFill>
                <a:latin typeface="Arial"/>
              </a:rPr>
              <a:t>On overflow the writer records a gap marker — interval, count, reason — rather than dropping records.</a:t>
            </a:r>
          </a:p>
          <a:p>
            <a:pPr algn="l">
              <a:spcBef>
                <a:spcPts val="0"/>
              </a:spcBef>
              <a:spcAft>
                <a:spcPts val="1100"/>
              </a:spcAft>
            </a:pPr>
            <a:r>
              <a:rPr sz="1400" b="1">
                <a:solidFill>
                  <a:srgbClr val="8BC53D"/>
                </a:solidFill>
                <a:latin typeface="Arial"/>
              </a:rPr>
              <a:t>▸  </a:t>
            </a:r>
            <a:r>
              <a:rPr sz="1400" b="1">
                <a:solidFill>
                  <a:srgbClr val="FFFFFF"/>
                </a:solidFill>
                <a:latin typeface="Arial"/>
              </a:rPr>
              <a:t>95.9% coverage; emission tested against the real routers, </a:t>
            </a:r>
            <a:r>
              <a:rPr sz="1400" b="0">
                <a:solidFill>
                  <a:srgbClr val="D6E2F5"/>
                </a:solidFill>
                <a:latin typeface="Arial"/>
              </a:rPr>
              <a:t>which caught an ordering bug that would have logged document opens that were actually denied.</a:t>
            </a:r>
          </a:p>
          <a:p>
            <a:pPr algn="l">
              <a:spcBef>
                <a:spcPts val="0"/>
              </a:spcBef>
              <a:spcAft>
                <a:spcPts val="1100"/>
              </a:spcAft>
            </a:pPr>
            <a:r>
              <a:rPr sz="1400" b="1">
                <a:solidFill>
                  <a:srgbClr val="8BC53D"/>
                </a:solidFill>
                <a:latin typeface="Arial"/>
              </a:rPr>
              <a:t>▸  </a:t>
            </a:r>
            <a:r>
              <a:rPr sz="1400" b="1">
                <a:solidFill>
                  <a:srgbClr val="FFFFFF"/>
                </a:solidFill>
                <a:latin typeface="Arial"/>
              </a:rPr>
              <a:t>The read surface is deferred on purpose. </a:t>
            </a:r>
            <a:r>
              <a:rPr sz="1400" b="0">
                <a:solidFill>
                  <a:srgbClr val="D6E2F5"/>
                </a:solidFill>
                <a:latin typeface="Arial"/>
              </a:rPr>
              <a:t>Search and export can be built over history; history cannot be built later.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THE PRODUCT SURFACE, MAPPED</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3000" b="1">
                <a:solidFill>
                  <a:srgbClr val="FFFFFF"/>
                </a:solidFill>
                <a:latin typeface="Arial"/>
              </a:rPr>
              <a:t>93 features, 21 capabilities, one dependency graph</a:t>
            </a:r>
          </a:p>
        </p:txBody>
      </p:sp>
      <p:sp>
        <p:nvSpPr>
          <p:cNvPr id="6" name="Rounded Rectangle 5"/>
          <p:cNvSpPr/>
          <p:nvPr/>
        </p:nvSpPr>
        <p:spPr>
          <a:xfrm>
            <a:off x="502920" y="1691640"/>
            <a:ext cx="5394960" cy="370332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291072" y="1691640"/>
            <a:ext cx="5394960" cy="3703320"/>
          </a:xfrm>
          <a:prstGeom prst="roundRect">
            <a:avLst>
              <a:gd name="adj" fmla="val 6000"/>
            </a:avLst>
          </a:prstGeom>
          <a:solidFill>
            <a:srgbClr val="242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874519"/>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What the map says</a:t>
            </a:r>
          </a:p>
          <a:p>
            <a:pPr algn="l">
              <a:spcBef>
                <a:spcPts val="0"/>
              </a:spcBef>
              <a:spcAft>
                <a:spcPts val="800"/>
              </a:spcAft>
            </a:pPr>
            <a:r>
              <a:rPr sz="1300" b="0">
                <a:solidFill>
                  <a:srgbClr val="9AA0C4"/>
                </a:solidFill>
                <a:latin typeface="Arial"/>
              </a:rPr>
              <a:t>the first document describing the whole product</a:t>
            </a:r>
          </a:p>
        </p:txBody>
      </p:sp>
      <p:sp>
        <p:nvSpPr>
          <p:cNvPr id="9" name="TextBox 8"/>
          <p:cNvSpPr txBox="1"/>
          <p:nvPr/>
        </p:nvSpPr>
        <p:spPr>
          <a:xfrm>
            <a:off x="731520" y="2487168"/>
            <a:ext cx="4937760" cy="365760"/>
          </a:xfrm>
          <a:prstGeom prst="rect">
            <a:avLst/>
          </a:prstGeom>
          <a:noFill/>
        </p:spPr>
        <p:txBody>
          <a:bodyPr wrap="square" lIns="0" rIns="0" tIns="0" bIns="0">
            <a:spAutoFit/>
          </a:bodyPr>
          <a:lstStyle/>
          <a:p>
            <a:pPr algn="l">
              <a:spcBef>
                <a:spcPts val="0"/>
              </a:spcBef>
              <a:spcAft>
                <a:spcPts val="1000"/>
              </a:spcAft>
            </a:pPr>
            <a:r>
              <a:rPr sz="1300" b="1">
                <a:solidFill>
                  <a:srgbClr val="8BC53D"/>
                </a:solidFill>
                <a:latin typeface="Arial"/>
              </a:rPr>
              <a:t>▸  </a:t>
            </a:r>
            <a:r>
              <a:rPr sz="1300" b="1">
                <a:solidFill>
                  <a:srgbClr val="FFFFFF"/>
                </a:solidFill>
                <a:latin typeface="Arial"/>
              </a:rPr>
              <a:t>Every feature placed in one capability, </a:t>
            </a:r>
            <a:r>
              <a:rPr sz="1300" b="0">
                <a:solidFill>
                  <a:srgbClr val="D6E2F5"/>
                </a:solidFill>
                <a:latin typeface="Arial"/>
              </a:rPr>
              <a:t>written as behaviour that can fail rather than intent.</a:t>
            </a:r>
          </a:p>
          <a:p>
            <a:pPr algn="l">
              <a:spcBef>
                <a:spcPts val="0"/>
              </a:spcBef>
              <a:spcAft>
                <a:spcPts val="1000"/>
              </a:spcAft>
            </a:pPr>
            <a:r>
              <a:rPr sz="1300" b="1">
                <a:solidFill>
                  <a:srgbClr val="8BC53D"/>
                </a:solidFill>
                <a:latin typeface="Arial"/>
              </a:rPr>
              <a:t>▸  </a:t>
            </a:r>
            <a:r>
              <a:rPr sz="1300" b="1">
                <a:solidFill>
                  <a:srgbClr val="FFFFFF"/>
                </a:solidFill>
                <a:latin typeface="Arial"/>
              </a:rPr>
              <a:t>49 dependency edges, acyclic, </a:t>
            </a:r>
            <a:r>
              <a:rPr sz="1300" b="0">
                <a:solidFill>
                  <a:srgbClr val="D6E2F5"/>
                </a:solidFill>
                <a:latin typeface="Arial"/>
              </a:rPr>
              <a:t>computed into eight layers — so build order is derived, not argued.</a:t>
            </a:r>
          </a:p>
          <a:p>
            <a:pPr algn="l">
              <a:spcBef>
                <a:spcPts val="0"/>
              </a:spcBef>
              <a:spcAft>
                <a:spcPts val="1000"/>
              </a:spcAft>
            </a:pPr>
            <a:r>
              <a:rPr sz="1300" b="1">
                <a:solidFill>
                  <a:srgbClr val="8BC53D"/>
                </a:solidFill>
                <a:latin typeface="Arial"/>
              </a:rPr>
              <a:t>▸  </a:t>
            </a:r>
            <a:r>
              <a:rPr sz="1300" b="1">
                <a:solidFill>
                  <a:srgbClr val="FFFFFF"/>
                </a:solidFill>
                <a:latin typeface="Arial"/>
              </a:rPr>
              <a:t>Four capabilities gate the rest. </a:t>
            </a:r>
            <a:r>
              <a:rPr sz="1300" b="0">
                <a:solidFill>
                  <a:srgbClr val="D6E2F5"/>
                </a:solidFill>
                <a:latin typeface="Arial"/>
              </a:rPr>
              <a:t>Two of them were not scheduled at all.</a:t>
            </a:r>
          </a:p>
          <a:p>
            <a:pPr algn="l">
              <a:spcBef>
                <a:spcPts val="0"/>
              </a:spcBef>
              <a:spcAft>
                <a:spcPts val="1000"/>
              </a:spcAft>
            </a:pPr>
            <a:r>
              <a:rPr sz="1300" b="1">
                <a:solidFill>
                  <a:srgbClr val="8BC53D"/>
                </a:solidFill>
                <a:latin typeface="Arial"/>
              </a:rPr>
              <a:t>▸  </a:t>
            </a:r>
            <a:r>
              <a:rPr sz="1300" b="1">
                <a:solidFill>
                  <a:srgbClr val="FFFFFF"/>
                </a:solidFill>
                <a:latin typeface="Arial"/>
              </a:rPr>
              <a:t>Roughly 80% of the intended product does not exist yet. </a:t>
            </a:r>
            <a:r>
              <a:rPr sz="1300" b="0">
                <a:solidFill>
                  <a:srgbClr val="D6E2F5"/>
                </a:solidFill>
                <a:latin typeface="Arial"/>
              </a:rPr>
              <a:t>That is a number the business has not previously had to look at.</a:t>
            </a:r>
          </a:p>
          <a:p>
            <a:pPr algn="l">
              <a:spcBef>
                <a:spcPts val="0"/>
              </a:spcBef>
              <a:spcAft>
                <a:spcPts val="1000"/>
              </a:spcAft>
            </a:pPr>
            <a:r>
              <a:rPr sz="1300" b="1">
                <a:solidFill>
                  <a:srgbClr val="8BC53D"/>
                </a:solidFill>
                <a:latin typeface="Arial"/>
              </a:rPr>
              <a:t>▸  </a:t>
            </a:r>
            <a:r>
              <a:rPr sz="1300" b="1">
                <a:solidFill>
                  <a:srgbClr val="FFFFFF"/>
                </a:solidFill>
                <a:latin typeface="Arial"/>
              </a:rPr>
              <a:t>Fifteen feature IDs are referenced but missing. </a:t>
            </a:r>
            <a:r>
              <a:rPr sz="1300" b="0">
                <a:solidFill>
                  <a:srgbClr val="D6E2F5"/>
                </a:solidFill>
                <a:latin typeface="Arial"/>
              </a:rPr>
              <a:t>Nine look clerical; six describe capabilities nobody has written down.</a:t>
            </a:r>
          </a:p>
        </p:txBody>
      </p:sp>
      <p:sp>
        <p:nvSpPr>
          <p:cNvPr id="10" name="TextBox 9"/>
          <p:cNvSpPr txBox="1"/>
          <p:nvPr/>
        </p:nvSpPr>
        <p:spPr>
          <a:xfrm>
            <a:off x="6519672" y="1874519"/>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Why that is good news for the rewrite</a:t>
            </a:r>
          </a:p>
          <a:p>
            <a:pPr algn="l">
              <a:spcBef>
                <a:spcPts val="0"/>
              </a:spcBef>
              <a:spcAft>
                <a:spcPts val="800"/>
              </a:spcAft>
            </a:pPr>
            <a:r>
              <a:rPr sz="1300" b="0">
                <a:solidFill>
                  <a:srgbClr val="9AA0C4"/>
                </a:solidFill>
                <a:latin typeface="Arial"/>
              </a:rPr>
              <a:t>the two programs do not compete this phase</a:t>
            </a:r>
          </a:p>
        </p:txBody>
      </p:sp>
      <p:sp>
        <p:nvSpPr>
          <p:cNvPr id="11" name="TextBox 10"/>
          <p:cNvSpPr txBox="1"/>
          <p:nvPr/>
        </p:nvSpPr>
        <p:spPr>
          <a:xfrm>
            <a:off x="6519672" y="2487168"/>
            <a:ext cx="4937760" cy="365760"/>
          </a:xfrm>
          <a:prstGeom prst="rect">
            <a:avLst/>
          </a:prstGeom>
          <a:noFill/>
        </p:spPr>
        <p:txBody>
          <a:bodyPr wrap="square" lIns="0" rIns="0" tIns="0" bIns="0">
            <a:spAutoFit/>
          </a:bodyPr>
          <a:lstStyle/>
          <a:p>
            <a:pPr algn="l">
              <a:spcBef>
                <a:spcPts val="0"/>
              </a:spcBef>
              <a:spcAft>
                <a:spcPts val="1000"/>
              </a:spcAft>
            </a:pPr>
            <a:r>
              <a:rPr sz="1300" b="1">
                <a:solidFill>
                  <a:srgbClr val="8BC53D"/>
                </a:solidFill>
                <a:latin typeface="Arial"/>
              </a:rPr>
              <a:t>▸  </a:t>
            </a:r>
            <a:r>
              <a:rPr sz="1300" b="1">
                <a:solidFill>
                  <a:srgbClr val="FFFFFF"/>
                </a:solidFill>
                <a:latin typeface="Arial"/>
              </a:rPr>
              <a:t>Six of the eight foundation capabilities are domains we have already built </a:t>
            </a:r>
            <a:r>
              <a:rPr sz="1300" b="0">
                <a:solidFill>
                  <a:srgbClr val="D6E2F5"/>
                </a:solidFill>
                <a:latin typeface="Arial"/>
              </a:rPr>
              <a:t>and never turned on. The work there is cutover, not build.</a:t>
            </a:r>
          </a:p>
          <a:p>
            <a:pPr algn="l">
              <a:spcBef>
                <a:spcPts val="0"/>
              </a:spcBef>
              <a:spcAft>
                <a:spcPts val="1000"/>
              </a:spcAft>
            </a:pPr>
            <a:r>
              <a:rPr sz="1300" b="1">
                <a:solidFill>
                  <a:srgbClr val="8BC53D"/>
                </a:solidFill>
                <a:latin typeface="Arial"/>
              </a:rPr>
              <a:t>▸  </a:t>
            </a:r>
            <a:r>
              <a:rPr sz="1300" b="1">
                <a:solidFill>
                  <a:srgbClr val="FFFFFF"/>
                </a:solidFill>
                <a:latin typeface="Arial"/>
              </a:rPr>
              <a:t>So Phase C buys migration progress and product foundation with the same money — </a:t>
            </a:r>
            <a:r>
              <a:rPr sz="1300" b="0">
                <a:solidFill>
                  <a:srgbClr val="D6E2F5"/>
                </a:solidFill>
                <a:latin typeface="Arial"/>
              </a:rPr>
              <a:t>provided we flip domains in the graph's order rather than the legacy code's shape.</a:t>
            </a:r>
          </a:p>
          <a:p>
            <a:pPr algn="l">
              <a:spcBef>
                <a:spcPts val="0"/>
              </a:spcBef>
              <a:spcAft>
                <a:spcPts val="1000"/>
              </a:spcAft>
            </a:pPr>
            <a:r>
              <a:rPr sz="1300" b="1">
                <a:solidFill>
                  <a:srgbClr val="8BC53D"/>
                </a:solidFill>
                <a:latin typeface="Arial"/>
              </a:rPr>
              <a:t>▸  </a:t>
            </a:r>
            <a:r>
              <a:rPr sz="1300" b="1">
                <a:solidFill>
                  <a:srgbClr val="FFFFFF"/>
                </a:solidFill>
                <a:latin typeface="Arial"/>
              </a:rPr>
              <a:t>Two amendments to the old order: </a:t>
            </a:r>
            <a:r>
              <a:rPr sz="1300" b="0">
                <a:solidFill>
                  <a:srgbClr val="D6E2F5"/>
                </a:solidFill>
                <a:latin typeface="Arial"/>
              </a:rPr>
              <a:t>the activity log moves first, and the QuickBooks data-retrieve wizard moves up from second-to-last, because it is the write path feeding 39 features.</a:t>
            </a:r>
          </a:p>
          <a:p>
            <a:pPr algn="l">
              <a:spcBef>
                <a:spcPts val="0"/>
              </a:spcBef>
              <a:spcAft>
                <a:spcPts val="1000"/>
              </a:spcAft>
            </a:pPr>
            <a:r>
              <a:rPr sz="1300" b="1">
                <a:solidFill>
                  <a:srgbClr val="8BC53D"/>
                </a:solidFill>
                <a:latin typeface="Arial"/>
              </a:rPr>
              <a:t>▸  </a:t>
            </a:r>
            <a:r>
              <a:rPr sz="1300" b="1">
                <a:solidFill>
                  <a:srgbClr val="FFFFFF"/>
                </a:solidFill>
                <a:latin typeface="Arial"/>
              </a:rPr>
              <a:t>That wizard is now specced to implementation fidelity </a:t>
            </a:r>
            <a:r>
              <a:rPr sz="1300" b="0">
                <a:solidFill>
                  <a:srgbClr val="D6E2F5"/>
                </a:solidFill>
                <a:latin typeface="Arial"/>
              </a:rPr>
              <a:t>— 14 requirements, 40 scenarios — as the worked example of the depth each feature gets when scheduled.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BY THE NUMBERS</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3000" b="1">
                <a:solidFill>
                  <a:srgbClr val="FFFFFF"/>
                </a:solidFill>
                <a:latin typeface="Arial"/>
              </a:rPr>
              <a:t>Since the last deck, five days ago</a:t>
            </a:r>
          </a:p>
        </p:txBody>
      </p:sp>
      <p:sp>
        <p:nvSpPr>
          <p:cNvPr id="6" name="Rounded Rectangle 5"/>
          <p:cNvSpPr/>
          <p:nvPr/>
        </p:nvSpPr>
        <p:spPr>
          <a:xfrm>
            <a:off x="502920" y="1965960"/>
            <a:ext cx="2084831" cy="237744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4088" y="2167128"/>
            <a:ext cx="1682495" cy="2011680"/>
          </a:xfrm>
          <a:prstGeom prst="rect">
            <a:avLst/>
          </a:prstGeom>
          <a:noFill/>
        </p:spPr>
        <p:txBody>
          <a:bodyPr wrap="square" lIns="0" rIns="0" tIns="0" bIns="0">
            <a:spAutoFit/>
          </a:bodyPr>
          <a:lstStyle/>
          <a:p>
            <a:pPr algn="l">
              <a:spcBef>
                <a:spcPts val="0"/>
              </a:spcBef>
              <a:spcAft>
                <a:spcPts val="600"/>
              </a:spcAft>
            </a:pPr>
            <a:r>
              <a:rPr sz="4000" b="1">
                <a:solidFill>
                  <a:srgbClr val="8BC53D"/>
                </a:solidFill>
                <a:latin typeface="Arial"/>
              </a:rPr>
              <a:t>9</a:t>
            </a:r>
          </a:p>
          <a:p>
            <a:pPr algn="l">
              <a:spcBef>
                <a:spcPts val="0"/>
              </a:spcBef>
              <a:spcAft>
                <a:spcPts val="1000"/>
              </a:spcAft>
            </a:pPr>
            <a:r>
              <a:rPr sz="1400" b="1">
                <a:solidFill>
                  <a:srgbClr val="FFFFFF"/>
                </a:solidFill>
                <a:latin typeface="Arial"/>
              </a:rPr>
              <a:t>domains built</a:t>
            </a:r>
          </a:p>
          <a:p>
            <a:pPr algn="l">
              <a:spcBef>
                <a:spcPts val="0"/>
              </a:spcBef>
              <a:spcAft>
                <a:spcPts val="200"/>
              </a:spcAft>
            </a:pPr>
            <a:r>
              <a:rPr sz="1250" b="0">
                <a:solidFill>
                  <a:srgbClr val="9AA0C4"/>
                </a:solidFill>
                <a:latin typeface="Arial"/>
              </a:rPr>
              <a:t>seven domains, the reports slice, and the gateway</a:t>
            </a:r>
          </a:p>
        </p:txBody>
      </p:sp>
      <p:sp>
        <p:nvSpPr>
          <p:cNvPr id="8" name="Rounded Rectangle 7"/>
          <p:cNvSpPr/>
          <p:nvPr/>
        </p:nvSpPr>
        <p:spPr>
          <a:xfrm>
            <a:off x="2706623" y="1965960"/>
            <a:ext cx="2084831" cy="237744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07791" y="2167128"/>
            <a:ext cx="1682495" cy="2011680"/>
          </a:xfrm>
          <a:prstGeom prst="rect">
            <a:avLst/>
          </a:prstGeom>
          <a:noFill/>
        </p:spPr>
        <p:txBody>
          <a:bodyPr wrap="square" lIns="0" rIns="0" tIns="0" bIns="0">
            <a:spAutoFit/>
          </a:bodyPr>
          <a:lstStyle/>
          <a:p>
            <a:pPr algn="l">
              <a:spcBef>
                <a:spcPts val="0"/>
              </a:spcBef>
              <a:spcAft>
                <a:spcPts val="600"/>
              </a:spcAft>
            </a:pPr>
            <a:r>
              <a:rPr sz="4000" b="1">
                <a:solidFill>
                  <a:srgbClr val="8BC53D"/>
                </a:solidFill>
                <a:latin typeface="Arial"/>
              </a:rPr>
              <a:t>241</a:t>
            </a:r>
          </a:p>
          <a:p>
            <a:pPr algn="l">
              <a:spcBef>
                <a:spcPts val="0"/>
              </a:spcBef>
              <a:spcAft>
                <a:spcPts val="1000"/>
              </a:spcAft>
            </a:pPr>
            <a:r>
              <a:rPr sz="1400" b="1">
                <a:solidFill>
                  <a:srgbClr val="FFFFFF"/>
                </a:solidFill>
                <a:latin typeface="Arial"/>
              </a:rPr>
              <a:t>api tests green</a:t>
            </a:r>
          </a:p>
          <a:p>
            <a:pPr algn="l">
              <a:spcBef>
                <a:spcPts val="0"/>
              </a:spcBef>
              <a:spcAft>
                <a:spcPts val="200"/>
              </a:spcAft>
            </a:pPr>
            <a:r>
              <a:rPr sz="1250" b="0">
                <a:solidFill>
                  <a:srgbClr val="9AA0C4"/>
                </a:solidFill>
                <a:latin typeface="Arial"/>
              </a:rPr>
              <a:t>up from 115; plus 40 db and 73 in the harness</a:t>
            </a:r>
          </a:p>
        </p:txBody>
      </p:sp>
      <p:sp>
        <p:nvSpPr>
          <p:cNvPr id="10" name="Rounded Rectangle 9"/>
          <p:cNvSpPr/>
          <p:nvPr/>
        </p:nvSpPr>
        <p:spPr>
          <a:xfrm>
            <a:off x="4910326" y="1965960"/>
            <a:ext cx="2084831" cy="237744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111494" y="2167128"/>
            <a:ext cx="1682495" cy="2011680"/>
          </a:xfrm>
          <a:prstGeom prst="rect">
            <a:avLst/>
          </a:prstGeom>
          <a:noFill/>
        </p:spPr>
        <p:txBody>
          <a:bodyPr wrap="square" lIns="0" rIns="0" tIns="0" bIns="0">
            <a:spAutoFit/>
          </a:bodyPr>
          <a:lstStyle/>
          <a:p>
            <a:pPr algn="l">
              <a:spcBef>
                <a:spcPts val="0"/>
              </a:spcBef>
              <a:spcAft>
                <a:spcPts val="600"/>
              </a:spcAft>
            </a:pPr>
            <a:r>
              <a:rPr sz="4000" b="1">
                <a:solidFill>
                  <a:srgbClr val="8BC53D"/>
                </a:solidFill>
                <a:latin typeface="Arial"/>
              </a:rPr>
              <a:t>22 / 68</a:t>
            </a:r>
          </a:p>
          <a:p>
            <a:pPr algn="l">
              <a:spcBef>
                <a:spcPts val="0"/>
              </a:spcBef>
              <a:spcAft>
                <a:spcPts val="1000"/>
              </a:spcAft>
            </a:pPr>
            <a:r>
              <a:rPr sz="1400" b="1">
                <a:solidFill>
                  <a:srgbClr val="FFFFFF"/>
                </a:solidFill>
                <a:latin typeface="Arial"/>
              </a:rPr>
              <a:t>endpoints under parity</a:t>
            </a:r>
          </a:p>
          <a:p>
            <a:pPr algn="l">
              <a:spcBef>
                <a:spcPts val="0"/>
              </a:spcBef>
              <a:spcAft>
                <a:spcPts val="200"/>
              </a:spcAft>
            </a:pPr>
            <a:r>
              <a:rPr sz="1250" b="0">
                <a:solidFill>
                  <a:srgbClr val="9AA0C4"/>
                </a:solidFill>
                <a:latin typeface="Arial"/>
              </a:rPr>
              <a:t>every domain partial: folders 3/13, uploads 2/9</a:t>
            </a:r>
          </a:p>
        </p:txBody>
      </p:sp>
      <p:sp>
        <p:nvSpPr>
          <p:cNvPr id="12" name="Rounded Rectangle 11"/>
          <p:cNvSpPr/>
          <p:nvPr/>
        </p:nvSpPr>
        <p:spPr>
          <a:xfrm>
            <a:off x="7114029" y="1965960"/>
            <a:ext cx="2084831" cy="237744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197" y="2167128"/>
            <a:ext cx="1682495" cy="2011680"/>
          </a:xfrm>
          <a:prstGeom prst="rect">
            <a:avLst/>
          </a:prstGeom>
          <a:noFill/>
        </p:spPr>
        <p:txBody>
          <a:bodyPr wrap="square" lIns="0" rIns="0" tIns="0" bIns="0">
            <a:spAutoFit/>
          </a:bodyPr>
          <a:lstStyle/>
          <a:p>
            <a:pPr algn="l">
              <a:spcBef>
                <a:spcPts val="0"/>
              </a:spcBef>
              <a:spcAft>
                <a:spcPts val="600"/>
              </a:spcAft>
            </a:pPr>
            <a:r>
              <a:rPr sz="4000" b="1">
                <a:solidFill>
                  <a:srgbClr val="8BC53D"/>
                </a:solidFill>
                <a:latin typeface="Arial"/>
              </a:rPr>
              <a:t>3</a:t>
            </a:r>
          </a:p>
          <a:p>
            <a:pPr algn="l">
              <a:spcBef>
                <a:spcPts val="0"/>
              </a:spcBef>
              <a:spcAft>
                <a:spcPts val="1000"/>
              </a:spcAft>
            </a:pPr>
            <a:r>
              <a:rPr sz="1400" b="1">
                <a:solidFill>
                  <a:srgbClr val="FFFFFF"/>
                </a:solidFill>
                <a:latin typeface="Arial"/>
              </a:rPr>
              <a:t>product defects caught early</a:t>
            </a:r>
          </a:p>
          <a:p>
            <a:pPr algn="l">
              <a:spcBef>
                <a:spcPts val="0"/>
              </a:spcBef>
              <a:spcAft>
                <a:spcPts val="200"/>
              </a:spcAft>
            </a:pPr>
            <a:r>
              <a:rPr sz="1250" b="0">
                <a:solidFill>
                  <a:srgbClr val="9AA0C4"/>
                </a:solidFill>
                <a:latin typeface="Arial"/>
              </a:rPr>
              <a:t>one a cross-tenant exposure; two more found in the harness itself</a:t>
            </a:r>
          </a:p>
        </p:txBody>
      </p:sp>
      <p:sp>
        <p:nvSpPr>
          <p:cNvPr id="14" name="Rounded Rectangle 13"/>
          <p:cNvSpPr/>
          <p:nvPr/>
        </p:nvSpPr>
        <p:spPr>
          <a:xfrm>
            <a:off x="9317732" y="1965960"/>
            <a:ext cx="2084831" cy="2377440"/>
          </a:xfrm>
          <a:prstGeom prst="roundRect">
            <a:avLst>
              <a:gd name="adj" fmla="val 6000"/>
            </a:avLst>
          </a:prstGeom>
          <a:solidFill>
            <a:srgbClr val="242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18900" y="2167128"/>
            <a:ext cx="1682495" cy="2011680"/>
          </a:xfrm>
          <a:prstGeom prst="rect">
            <a:avLst/>
          </a:prstGeom>
          <a:noFill/>
        </p:spPr>
        <p:txBody>
          <a:bodyPr wrap="square" lIns="0" rIns="0" tIns="0" bIns="0">
            <a:spAutoFit/>
          </a:bodyPr>
          <a:lstStyle/>
          <a:p>
            <a:pPr algn="l">
              <a:spcBef>
                <a:spcPts val="0"/>
              </a:spcBef>
              <a:spcAft>
                <a:spcPts val="600"/>
              </a:spcAft>
            </a:pPr>
            <a:r>
              <a:rPr sz="4000" b="1">
                <a:solidFill>
                  <a:srgbClr val="9BD05A"/>
                </a:solidFill>
                <a:latin typeface="Arial"/>
              </a:rPr>
              <a:t>0</a:t>
            </a:r>
          </a:p>
          <a:p>
            <a:pPr algn="l">
              <a:spcBef>
                <a:spcPts val="0"/>
              </a:spcBef>
              <a:spcAft>
                <a:spcPts val="1000"/>
              </a:spcAft>
            </a:pPr>
            <a:r>
              <a:rPr sz="1400" b="1">
                <a:solidFill>
                  <a:srgbClr val="FFFFFF"/>
                </a:solidFill>
                <a:latin typeface="Arial"/>
              </a:rPr>
              <a:t>domains in production</a:t>
            </a:r>
          </a:p>
          <a:p>
            <a:pPr algn="l">
              <a:spcBef>
                <a:spcPts val="0"/>
              </a:spcBef>
              <a:spcAft>
                <a:spcPts val="200"/>
              </a:spcAft>
            </a:pPr>
            <a:r>
              <a:rPr sz="1250" b="0">
                <a:solidFill>
                  <a:srgbClr val="9AA0C4"/>
                </a:solidFill>
                <a:latin typeface="Arial"/>
              </a:rPr>
              <a:t>the number this phase exists to change</a:t>
            </a:r>
          </a:p>
        </p:txBody>
      </p:sp>
      <p:sp>
        <p:nvSpPr>
          <p:cNvPr id="16" name="TextBox 15"/>
          <p:cNvSpPr txBox="1"/>
          <p:nvPr/>
        </p:nvSpPr>
        <p:spPr>
          <a:xfrm>
            <a:off x="502920" y="4709160"/>
            <a:ext cx="11155680" cy="1280160"/>
          </a:xfrm>
          <a:prstGeom prst="rect">
            <a:avLst/>
          </a:prstGeom>
          <a:noFill/>
        </p:spPr>
        <p:txBody>
          <a:bodyPr wrap="square" lIns="0" rIns="0" tIns="0" bIns="0">
            <a:spAutoFit/>
          </a:bodyPr>
          <a:lstStyle/>
          <a:p>
            <a:pPr algn="l">
              <a:spcBef>
                <a:spcPts val="0"/>
              </a:spcBef>
              <a:spcAft>
                <a:spcPts val="1000"/>
              </a:spcAft>
            </a:pPr>
            <a:r>
              <a:rPr sz="1400" b="1">
                <a:solidFill>
                  <a:srgbClr val="FFFFFF"/>
                </a:solidFill>
                <a:latin typeface="Arial"/>
              </a:rPr>
              <a:t>The last column is the honest one. </a:t>
            </a:r>
            <a:r>
              <a:rPr sz="1400" b="0">
                <a:solidFill>
                  <a:srgbClr val="D6E2F5"/>
                </a:solidFill>
                <a:latin typeface="Arial"/>
              </a:rPr>
              <a:t>Every other number describes work that is finished, tested and reversible — and until a domain serves real traffic and its legacy handler is deleted, the parallel rewrite is pure cost: two implementations to maintain, one of them unused. That is the program's standing risk #1, and Phase C's only real objective.</a:t>
            </a:r>
          </a:p>
          <a:p>
            <a:pPr algn="l">
              <a:spcBef>
                <a:spcPts val="0"/>
              </a:spcBef>
              <a:spcAft>
                <a:spcPts val="600"/>
              </a:spcAft>
            </a:pPr>
            <a:r>
              <a:rPr sz="1300" b="1">
                <a:solidFill>
                  <a:srgbClr val="FFFFFF"/>
                </a:solidFill>
                <a:latin typeface="Arial"/>
              </a:rPr>
              <a:t>One local datapoint on what flipping buys, with its caveat: </a:t>
            </a:r>
            <a:r>
              <a:rPr sz="1300" b="0">
                <a:solidFill>
                  <a:srgbClr val="D6E2F5"/>
                </a:solidFill>
                <a:latin typeface="Arial"/>
              </a:rPr>
              <a:t>in the demo stack a client login takes ~0.7s through the modules against ~49s through legacy, because legacy reaches for Supabase on every read. No Supabase credentials are configured there, so treat it as a shape, not a benchmark.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84048"/>
            <a:ext cx="11155680" cy="365760"/>
          </a:xfrm>
          <a:prstGeom prst="rect">
            <a:avLst/>
          </a:prstGeom>
          <a:noFill/>
        </p:spPr>
        <p:txBody>
          <a:bodyPr wrap="square" lIns="0" rIns="0" tIns="0" bIns="0">
            <a:spAutoFit/>
          </a:bodyPr>
          <a:lstStyle/>
          <a:p>
            <a:pPr algn="l">
              <a:spcBef>
                <a:spcPts val="0"/>
              </a:spcBef>
              <a:spcAft>
                <a:spcPts val="600"/>
              </a:spcAft>
            </a:pPr>
            <a:r>
              <a:rPr sz="1300" b="1">
                <a:solidFill>
                  <a:srgbClr val="8BC53D"/>
                </a:solidFill>
                <a:latin typeface="Arial"/>
              </a:rPr>
              <a:t>WHERE WE GO NEXT</a:t>
            </a:r>
          </a:p>
        </p:txBody>
      </p:sp>
      <p:sp>
        <p:nvSpPr>
          <p:cNvPr id="5" name="TextBox 4"/>
          <p:cNvSpPr txBox="1"/>
          <p:nvPr/>
        </p:nvSpPr>
        <p:spPr>
          <a:xfrm>
            <a:off x="502920" y="658368"/>
            <a:ext cx="11155680" cy="822960"/>
          </a:xfrm>
          <a:prstGeom prst="rect">
            <a:avLst/>
          </a:prstGeom>
          <a:noFill/>
        </p:spPr>
        <p:txBody>
          <a:bodyPr wrap="square" lIns="0" rIns="0" tIns="0" bIns="0">
            <a:spAutoFit/>
          </a:bodyPr>
          <a:lstStyle/>
          <a:p>
            <a:pPr algn="l">
              <a:spcBef>
                <a:spcPts val="0"/>
              </a:spcBef>
              <a:spcAft>
                <a:spcPts val="600"/>
              </a:spcAft>
            </a:pPr>
            <a:r>
              <a:rPr sz="3000" b="1">
                <a:solidFill>
                  <a:srgbClr val="FFFFFF"/>
                </a:solidFill>
                <a:latin typeface="Arial"/>
              </a:rPr>
              <a:t>Phase C — turn it on, then delete what it replaced</a:t>
            </a:r>
          </a:p>
        </p:txBody>
      </p:sp>
      <p:sp>
        <p:nvSpPr>
          <p:cNvPr id="6" name="Rounded Rectangle 5"/>
          <p:cNvSpPr/>
          <p:nvPr/>
        </p:nvSpPr>
        <p:spPr>
          <a:xfrm>
            <a:off x="502920" y="1627632"/>
            <a:ext cx="5394960" cy="411480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6291072" y="1627632"/>
            <a:ext cx="5394960" cy="4114800"/>
          </a:xfrm>
          <a:prstGeom prst="roundRect">
            <a:avLst>
              <a:gd name="adj" fmla="val 6000"/>
            </a:avLst>
          </a:prstGeom>
          <a:solidFill>
            <a:srgbClr val="1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810512"/>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The sequence</a:t>
            </a:r>
          </a:p>
          <a:p>
            <a:pPr algn="l">
              <a:spcBef>
                <a:spcPts val="0"/>
              </a:spcBef>
              <a:spcAft>
                <a:spcPts val="800"/>
              </a:spcAft>
            </a:pPr>
            <a:r>
              <a:rPr sz="1300" b="0">
                <a:solidFill>
                  <a:srgbClr val="9AA0C4"/>
                </a:solidFill>
                <a:latin typeface="Arial"/>
              </a:rPr>
              <a:t>only two hard ordering constraints</a:t>
            </a:r>
          </a:p>
        </p:txBody>
      </p:sp>
      <p:sp>
        <p:nvSpPr>
          <p:cNvPr id="9" name="TextBox 8"/>
          <p:cNvSpPr txBox="1"/>
          <p:nvPr/>
        </p:nvSpPr>
        <p:spPr>
          <a:xfrm>
            <a:off x="731520" y="2423160"/>
            <a:ext cx="4937760" cy="365760"/>
          </a:xfrm>
          <a:prstGeom prst="rect">
            <a:avLst/>
          </a:prstGeom>
          <a:noFill/>
        </p:spPr>
        <p:txBody>
          <a:bodyPr wrap="square" lIns="0" rIns="0" tIns="0" bIns="0">
            <a:spAutoFit/>
          </a:bodyPr>
          <a:lstStyle/>
          <a:p>
            <a:pPr algn="l">
              <a:spcBef>
                <a:spcPts val="0"/>
              </a:spcBef>
              <a:spcAft>
                <a:spcPts val="1100"/>
              </a:spcAft>
            </a:pPr>
            <a:r>
              <a:rPr sz="1400" b="1">
                <a:solidFill>
                  <a:srgbClr val="8BC53D"/>
                </a:solidFill>
                <a:latin typeface="Arial"/>
              </a:rPr>
              <a:t>▸  </a:t>
            </a:r>
            <a:r>
              <a:rPr sz="1400" b="1">
                <a:solidFill>
                  <a:srgbClr val="FFFFFF"/>
                </a:solidFill>
                <a:latin typeface="Arial"/>
              </a:rPr>
              <a:t>C1 · Staging from a production snapshot. </a:t>
            </a:r>
            <a:r>
              <a:rPr sz="1400" b="0">
                <a:solidFill>
                  <a:srgbClr val="D6E2F5"/>
                </a:solidFill>
                <a:latin typeface="Arial"/>
              </a:rPr>
              <a:t>Reconcile the drift, record a baseline, verify session-secret parity before anything flips.</a:t>
            </a:r>
          </a:p>
          <a:p>
            <a:pPr algn="l">
              <a:spcBef>
                <a:spcPts val="0"/>
              </a:spcBef>
              <a:spcAft>
                <a:spcPts val="1100"/>
              </a:spcAft>
            </a:pPr>
            <a:r>
              <a:rPr sz="1400" b="1">
                <a:solidFill>
                  <a:srgbClr val="8BC53D"/>
                </a:solidFill>
                <a:latin typeface="Arial"/>
              </a:rPr>
              <a:t>▸  </a:t>
            </a:r>
            <a:r>
              <a:rPr sz="1400" b="1">
                <a:solidFill>
                  <a:srgbClr val="FFFFFF"/>
                </a:solidFill>
                <a:latin typeface="Arial"/>
              </a:rPr>
              <a:t>C2 · Flip auth, then delete its legacy handlers. </a:t>
            </a:r>
            <a:r>
              <a:rPr sz="1400" b="0">
                <a:solidFill>
                  <a:srgbClr val="D6E2F5"/>
                </a:solidFill>
                <a:latin typeface="Arial"/>
              </a:rPr>
              <a:t>Widen the parity suite past today's 22 of 68 endpoints, canary, soak, and a rollback exercised deliberately rather than assumed.</a:t>
            </a:r>
          </a:p>
          <a:p>
            <a:pPr algn="l">
              <a:spcBef>
                <a:spcPts val="0"/>
              </a:spcBef>
              <a:spcAft>
                <a:spcPts val="1100"/>
              </a:spcAft>
            </a:pPr>
            <a:r>
              <a:rPr sz="1400" b="1">
                <a:solidFill>
                  <a:srgbClr val="8BC53D"/>
                </a:solidFill>
                <a:latin typeface="Arial"/>
              </a:rPr>
              <a:t>▸  </a:t>
            </a:r>
            <a:r>
              <a:rPr sz="1400" b="1">
                <a:solidFill>
                  <a:srgbClr val="FFFFFF"/>
                </a:solidFill>
                <a:latin typeface="Arial"/>
              </a:rPr>
              <a:t>C3 · The foundation domains, in graph order. </a:t>
            </a:r>
            <a:r>
              <a:rPr sz="1400" b="0">
                <a:solidFill>
                  <a:srgbClr val="D6E2F5"/>
                </a:solidFill>
                <a:latin typeface="Arial"/>
              </a:rPr>
              <a:t>companies → users → folders (this is access control), then uploads, then the reports slice.</a:t>
            </a:r>
          </a:p>
          <a:p>
            <a:pPr algn="l">
              <a:spcBef>
                <a:spcPts val="0"/>
              </a:spcBef>
              <a:spcAft>
                <a:spcPts val="1100"/>
              </a:spcAft>
            </a:pPr>
            <a:r>
              <a:rPr sz="1400" b="1">
                <a:solidFill>
                  <a:srgbClr val="8BC53D"/>
                </a:solidFill>
                <a:latin typeface="Arial"/>
              </a:rPr>
              <a:t>▸  </a:t>
            </a:r>
            <a:r>
              <a:rPr sz="1400" b="1">
                <a:solidFill>
                  <a:srgbClr val="FFFFFF"/>
                </a:solidFill>
                <a:latin typeface="Arial"/>
              </a:rPr>
              <a:t>C4 · Activity capture, starting now. </a:t>
            </a:r>
            <a:r>
              <a:rPr sz="1400" b="0">
                <a:solidFill>
                  <a:srgbClr val="D6E2F5"/>
                </a:solidFill>
                <a:latin typeface="Arial"/>
              </a:rPr>
              <a:t>It depends on nothing and its value expires fastest.</a:t>
            </a:r>
          </a:p>
        </p:txBody>
      </p:sp>
      <p:sp>
        <p:nvSpPr>
          <p:cNvPr id="10" name="TextBox 9"/>
          <p:cNvSpPr txBox="1"/>
          <p:nvPr/>
        </p:nvSpPr>
        <p:spPr>
          <a:xfrm>
            <a:off x="6519672" y="1810512"/>
            <a:ext cx="4937760" cy="365760"/>
          </a:xfrm>
          <a:prstGeom prst="rect">
            <a:avLst/>
          </a:prstGeom>
          <a:noFill/>
        </p:spPr>
        <p:txBody>
          <a:bodyPr wrap="square" lIns="0" rIns="0" tIns="0" bIns="0">
            <a:spAutoFit/>
          </a:bodyPr>
          <a:lstStyle/>
          <a:p>
            <a:pPr algn="l">
              <a:spcBef>
                <a:spcPts val="0"/>
              </a:spcBef>
              <a:spcAft>
                <a:spcPts val="200"/>
              </a:spcAft>
            </a:pPr>
            <a:r>
              <a:rPr sz="1600" b="1">
                <a:solidFill>
                  <a:srgbClr val="8BC53D"/>
                </a:solidFill>
                <a:latin typeface="Arial"/>
              </a:rPr>
              <a:t>What we need from outside engineering</a:t>
            </a:r>
          </a:p>
          <a:p>
            <a:pPr algn="l">
              <a:spcBef>
                <a:spcPts val="0"/>
              </a:spcBef>
              <a:spcAft>
                <a:spcPts val="800"/>
              </a:spcAft>
            </a:pPr>
            <a:r>
              <a:rPr sz="1300" b="0">
                <a:solidFill>
                  <a:srgbClr val="9AA0C4"/>
                </a:solidFill>
                <a:latin typeface="Arial"/>
              </a:rPr>
              <a:t>decisions, not capacity</a:t>
            </a:r>
          </a:p>
        </p:txBody>
      </p:sp>
      <p:sp>
        <p:nvSpPr>
          <p:cNvPr id="11" name="TextBox 10"/>
          <p:cNvSpPr txBox="1"/>
          <p:nvPr/>
        </p:nvSpPr>
        <p:spPr>
          <a:xfrm>
            <a:off x="6519672" y="2423160"/>
            <a:ext cx="4937760" cy="365760"/>
          </a:xfrm>
          <a:prstGeom prst="rect">
            <a:avLst/>
          </a:prstGeom>
          <a:noFill/>
        </p:spPr>
        <p:txBody>
          <a:bodyPr wrap="square" lIns="0" rIns="0" tIns="0" bIns="0">
            <a:spAutoFit/>
          </a:bodyPr>
          <a:lstStyle/>
          <a:p>
            <a:pPr algn="l">
              <a:spcBef>
                <a:spcPts val="0"/>
              </a:spcBef>
              <a:spcAft>
                <a:spcPts val="1100"/>
              </a:spcAft>
            </a:pPr>
            <a:r>
              <a:rPr sz="1400" b="1">
                <a:solidFill>
                  <a:srgbClr val="8BC53D"/>
                </a:solidFill>
                <a:latin typeface="Arial"/>
              </a:rPr>
              <a:t>▸  </a:t>
            </a:r>
            <a:r>
              <a:rPr sz="1400" b="1">
                <a:solidFill>
                  <a:srgbClr val="FFFFFF"/>
                </a:solidFill>
                <a:latin typeface="Arial"/>
              </a:rPr>
              <a:t>The financial-data table structure. </a:t>
            </a:r>
            <a:r>
              <a:rPr sz="1400" b="0">
                <a:solidFill>
                  <a:srgbClr val="D6E2F5"/>
                </a:solidFill>
                <a:latin typeface="Arial"/>
              </a:rPr>
              <a:t>Highest-leverage item on the list: it gates 39 features, and flipping reports before it is settled means paying the cutover cost twice.</a:t>
            </a:r>
          </a:p>
          <a:p>
            <a:pPr algn="l">
              <a:spcBef>
                <a:spcPts val="0"/>
              </a:spcBef>
              <a:spcAft>
                <a:spcPts val="1100"/>
              </a:spcAft>
            </a:pPr>
            <a:r>
              <a:rPr sz="1400" b="1">
                <a:solidFill>
                  <a:srgbClr val="8BC53D"/>
                </a:solidFill>
                <a:latin typeface="Arial"/>
              </a:rPr>
              <a:t>▸  </a:t>
            </a:r>
            <a:r>
              <a:rPr sz="1400" b="1">
                <a:solidFill>
                  <a:srgbClr val="FFFFFF"/>
                </a:solidFill>
                <a:latin typeface="Arial"/>
              </a:rPr>
              <a:t>The rule for customer data in staging. </a:t>
            </a:r>
            <a:r>
              <a:rPr sz="1400" b="0">
                <a:solidFill>
                  <a:srgbClr val="D6E2F5"/>
                </a:solidFill>
                <a:latin typeface="Arial"/>
              </a:rPr>
              <a:t>The snapshot carries real financials and PII, and staging sends real email. Anonymise, or treat staging as production for access. This is a decision, not a task.</a:t>
            </a:r>
          </a:p>
          <a:p>
            <a:pPr algn="l">
              <a:spcBef>
                <a:spcPts val="0"/>
              </a:spcBef>
              <a:spcAft>
                <a:spcPts val="1100"/>
              </a:spcAft>
            </a:pPr>
            <a:r>
              <a:rPr sz="1400" b="1">
                <a:solidFill>
                  <a:srgbClr val="8BC53D"/>
                </a:solidFill>
                <a:latin typeface="Arial"/>
              </a:rPr>
              <a:t>▸  </a:t>
            </a:r>
            <a:r>
              <a:rPr sz="1400" b="1">
                <a:solidFill>
                  <a:srgbClr val="FFFFFF"/>
                </a:solidFill>
                <a:latin typeface="Arial"/>
              </a:rPr>
              <a:t>Two product boundary calls </a:t>
            </a:r>
            <a:r>
              <a:rPr sz="1400" b="0">
                <a:solidFill>
                  <a:srgbClr val="D6E2F5"/>
                </a:solidFill>
                <a:latin typeface="Arial"/>
              </a:rPr>
              <a:t>on notifications, document versioning, and the deal-structure engine that six features reference and no row defines.</a:t>
            </a:r>
          </a:p>
          <a:p>
            <a:pPr algn="l">
              <a:spcBef>
                <a:spcPts val="0"/>
              </a:spcBef>
              <a:spcAft>
                <a:spcPts val="1100"/>
              </a:spcAft>
            </a:pPr>
            <a:r>
              <a:rPr sz="1400" b="1">
                <a:solidFill>
                  <a:srgbClr val="8BC53D"/>
                </a:solidFill>
                <a:latin typeface="Arial"/>
              </a:rPr>
              <a:t>▸  </a:t>
            </a:r>
            <a:r>
              <a:rPr sz="1400" b="1">
                <a:solidFill>
                  <a:srgbClr val="FFFFFF"/>
                </a:solidFill>
                <a:latin typeface="Arial"/>
              </a:rPr>
              <a:t>No durations in this plan. </a:t>
            </a:r>
            <a:r>
              <a:rPr sz="1400" b="0">
                <a:solidFill>
                  <a:srgbClr val="D6E2F5"/>
                </a:solidFill>
                <a:latin typeface="Arial"/>
              </a:rPr>
              <a:t>There is no velocity data for this team yet; estimates belong to the people doing the work, attached to these exit criteria.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8016" cy="6858000"/>
          </a:xfrm>
          <a:prstGeom prst="rect">
            <a:avLst/>
          </a:prstGeom>
          <a:solidFill>
            <a:srgbClr val="8BC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377440"/>
            <a:ext cx="10332720" cy="1097280"/>
          </a:xfrm>
          <a:prstGeom prst="rect">
            <a:avLst/>
          </a:prstGeom>
          <a:noFill/>
        </p:spPr>
        <p:txBody>
          <a:bodyPr wrap="square" lIns="0" rIns="0" tIns="0" bIns="0">
            <a:spAutoFit/>
          </a:bodyPr>
          <a:lstStyle/>
          <a:p>
            <a:pPr algn="l">
              <a:spcBef>
                <a:spcPts val="0"/>
              </a:spcBef>
              <a:spcAft>
                <a:spcPts val="1400"/>
              </a:spcAft>
            </a:pPr>
            <a:r>
              <a:rPr sz="3200" b="1">
                <a:solidFill>
                  <a:srgbClr val="FFFFFF"/>
                </a:solidFill>
                <a:latin typeface="Arial"/>
              </a:rPr>
              <a:t>The stack runs, and running it made us safer.</a:t>
            </a:r>
          </a:p>
        </p:txBody>
      </p:sp>
      <p:sp>
        <p:nvSpPr>
          <p:cNvPr id="5" name="TextBox 4"/>
          <p:cNvSpPr txBox="1"/>
          <p:nvPr/>
        </p:nvSpPr>
        <p:spPr>
          <a:xfrm>
            <a:off x="822960" y="3291840"/>
            <a:ext cx="10058400" cy="914400"/>
          </a:xfrm>
          <a:prstGeom prst="rect">
            <a:avLst/>
          </a:prstGeom>
          <a:noFill/>
        </p:spPr>
        <p:txBody>
          <a:bodyPr wrap="square" lIns="0" rIns="0" tIns="0" bIns="0">
            <a:spAutoFit/>
          </a:bodyPr>
          <a:lstStyle/>
          <a:p>
            <a:pPr algn="l">
              <a:spcBef>
                <a:spcPts val="0"/>
              </a:spcBef>
              <a:spcAft>
                <a:spcPts val="600"/>
              </a:spcAft>
            </a:pPr>
            <a:r>
              <a:rPr sz="1700" b="0">
                <a:solidFill>
                  <a:srgbClr val="D6E2F5"/>
                </a:solidFill>
                <a:latin typeface="Arial"/>
              </a:rPr>
              <a:t>Next: one domain serving production traffic, with its legacy handler deleted. Nothing else in Phase C counts until that happens.</a:t>
            </a:r>
          </a:p>
        </p:txBody>
      </p:sp>
      <p:sp>
        <p:nvSpPr>
          <p:cNvPr id="6" name="TextBox 5"/>
          <p:cNvSpPr txBox="1"/>
          <p:nvPr/>
        </p:nvSpPr>
        <p:spPr>
          <a:xfrm>
            <a:off x="822960" y="5760720"/>
            <a:ext cx="10515600" cy="548640"/>
          </a:xfrm>
          <a:prstGeom prst="rect">
            <a:avLst/>
          </a:prstGeom>
          <a:noFill/>
        </p:spPr>
        <p:txBody>
          <a:bodyPr wrap="square" lIns="0" rIns="0" tIns="0" bIns="0">
            <a:spAutoFit/>
          </a:bodyPr>
          <a:lstStyle/>
          <a:p>
            <a:pPr algn="l">
              <a:spcBef>
                <a:spcPts val="0"/>
              </a:spcBef>
              <a:spcAft>
                <a:spcPts val="600"/>
              </a:spcAft>
            </a:pPr>
            <a:r>
              <a:rPr sz="1300" b="0">
                <a:solidFill>
                  <a:srgbClr val="9AA0C4"/>
                </a:solidFill>
                <a:latin typeface="Arial"/>
              </a:rPr>
              <a:t>Details:  docs/REARCH_LOG.md §§14–21  ·  docs/PHASE_C_PLAN.md  ·  docs/CUTOVER_FLIP_CRITERIA.md  ·  openspec/changes/centuriuum-product-surface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